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01" r:id="rId2"/>
  </p:sldMasterIdLst>
  <p:notesMasterIdLst>
    <p:notesMasterId r:id="rId11"/>
  </p:notesMasterIdLst>
  <p:sldIdLst>
    <p:sldId id="256" r:id="rId3"/>
    <p:sldId id="257" r:id="rId4"/>
    <p:sldId id="258" r:id="rId5"/>
    <p:sldId id="259" r:id="rId6"/>
    <p:sldId id="260" r:id="rId7"/>
    <p:sldId id="261" r:id="rId8"/>
    <p:sldId id="263"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snapToObjects="1">
      <p:cViewPr varScale="1">
        <p:scale>
          <a:sx n="196" d="100"/>
          <a:sy n="196" d="100"/>
        </p:scale>
        <p:origin x="17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7959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mockup of the intended prototype, not a screenshot of a working product. The four screens illustrate photo or text search, a short style questionnaire, personalised inspiration and a link to the official store. Product images are AI-generated illustrations and do not represent verified items in the 20-set pilot catalogue. The interface mockup is an embedded image. Slide titles and explanatory text remain editable. Image generated with the built-in image generation tool.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2"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light.png"/>
          <p:cNvPicPr>
            <a:picLocks noChangeAspect="1"/>
          </p:cNvPicPr>
          <p:nvPr/>
        </p:nvPicPr>
        <p:blipFill>
          <a:blip r:embed="rId2"/>
          <a:stretch>
            <a:fillRect/>
          </a:stretch>
        </p:blipFill>
        <p:spPr>
          <a:xfrm>
            <a:off x="0" y="0"/>
            <a:ext cx="12191969" cy="6858000"/>
          </a:xfrm>
          <a:prstGeom prst="rect">
            <a:avLst/>
          </a:prstGeom>
        </p:spPr>
      </p:pic>
      <p:pic>
        <p:nvPicPr>
          <p:cNvPr id="3" name="Picture 2" descr="ill_cover.png"/>
          <p:cNvPicPr>
            <a:picLocks noChangeAspect="1"/>
          </p:cNvPicPr>
          <p:nvPr/>
        </p:nvPicPr>
        <p:blipFill>
          <a:blip r:embed="rId3"/>
          <a:stretch>
            <a:fillRect/>
          </a:stretch>
        </p:blipFill>
        <p:spPr>
          <a:xfrm>
            <a:off x="8485632" y="1883664"/>
            <a:ext cx="2988457" cy="4480560"/>
          </a:xfrm>
          <a:prstGeom prst="rect">
            <a:avLst/>
          </a:prstGeom>
        </p:spPr>
      </p:pic>
      <p:pic>
        <p:nvPicPr>
          <p:cNvPr id="4" name="Picture 3" descr="logo145.png"/>
          <p:cNvPicPr>
            <a:picLocks noChangeAspect="1"/>
          </p:cNvPicPr>
          <p:nvPr/>
        </p:nvPicPr>
        <p:blipFill>
          <a:blip r:embed="rId4"/>
          <a:stretch>
            <a:fillRect/>
          </a:stretch>
        </p:blipFill>
        <p:spPr>
          <a:xfrm>
            <a:off x="10277856" y="219456"/>
            <a:ext cx="1591056" cy="1490472"/>
          </a:xfrm>
          <a:prstGeom prst="rect">
            <a:avLst/>
          </a:prstGeom>
        </p:spPr>
      </p:pic>
      <p:pic>
        <p:nvPicPr>
          <p:cNvPr id="5" name="Picture 4" descr="corona_mark.png"/>
          <p:cNvPicPr>
            <a:picLocks noChangeAspect="1"/>
          </p:cNvPicPr>
          <p:nvPr/>
        </p:nvPicPr>
        <p:blipFill>
          <a:blip r:embed="rId5"/>
          <a:stretch>
            <a:fillRect/>
          </a:stretch>
        </p:blipFill>
        <p:spPr>
          <a:xfrm>
            <a:off x="10305288" y="6163056"/>
            <a:ext cx="1426464" cy="201168"/>
          </a:xfrm>
          <a:prstGeom prst="rect">
            <a:avLst/>
          </a:prstGeom>
        </p:spPr>
      </p:pic>
      <p:sp>
        <p:nvSpPr>
          <p:cNvPr id="6" name="TextBox 5"/>
          <p:cNvSpPr txBox="1"/>
          <p:nvPr/>
        </p:nvSpPr>
        <p:spPr>
          <a:xfrm>
            <a:off x="1444752" y="1755648"/>
            <a:ext cx="6858000" cy="274320"/>
          </a:xfrm>
          <a:prstGeom prst="rect">
            <a:avLst/>
          </a:prstGeom>
          <a:noFill/>
        </p:spPr>
        <p:txBody>
          <a:bodyPr wrap="square" lIns="0" tIns="0" rIns="0" bIns="0" anchor="t">
            <a:spAutoFit/>
          </a:bodyPr>
          <a:lstStyle/>
          <a:p>
            <a:pPr algn="l">
              <a:spcBef>
                <a:spcPts val="0"/>
              </a:spcBef>
              <a:spcAft>
                <a:spcPts val="0"/>
              </a:spcAft>
            </a:pPr>
            <a:r>
              <a:rPr sz="1200" b="1">
                <a:solidFill>
                  <a:srgbClr val="7A8CA6"/>
                </a:solidFill>
                <a:latin typeface="Calibri"/>
              </a:rPr>
              <a:t>PROJECT BRIEF  ·  GRADUATE INTERNSHIP</a:t>
            </a:r>
          </a:p>
        </p:txBody>
      </p:sp>
      <p:sp>
        <p:nvSpPr>
          <p:cNvPr id="7" name="TextBox 6"/>
          <p:cNvSpPr txBox="1"/>
          <p:nvPr/>
        </p:nvSpPr>
        <p:spPr>
          <a:xfrm>
            <a:off x="1417320" y="2103120"/>
            <a:ext cx="6858000" cy="1371600"/>
          </a:xfrm>
          <a:prstGeom prst="rect">
            <a:avLst/>
          </a:prstGeom>
          <a:noFill/>
        </p:spPr>
        <p:txBody>
          <a:bodyPr wrap="square" lIns="0" tIns="0" rIns="0" bIns="0" anchor="t">
            <a:spAutoFit/>
          </a:bodyPr>
          <a:lstStyle/>
          <a:p>
            <a:pPr algn="l">
              <a:lnSpc>
                <a:spcPct val="105000"/>
              </a:lnSpc>
              <a:spcBef>
                <a:spcPts val="0"/>
              </a:spcBef>
              <a:spcAft>
                <a:spcPts val="0"/>
              </a:spcAft>
            </a:pPr>
            <a:r>
              <a:rPr sz="3400" b="1">
                <a:solidFill>
                  <a:srgbClr val="82C2DD"/>
                </a:solidFill>
                <a:latin typeface="Calibri"/>
              </a:rPr>
              <a:t>Functional Visual Search</a:t>
            </a:r>
          </a:p>
          <a:p>
            <a:pPr algn="l">
              <a:lnSpc>
                <a:spcPct val="105000"/>
              </a:lnSpc>
              <a:spcBef>
                <a:spcPts val="0"/>
              </a:spcBef>
              <a:spcAft>
                <a:spcPts val="0"/>
              </a:spcAft>
            </a:pPr>
            <a:r>
              <a:rPr sz="3400" b="1">
                <a:solidFill>
                  <a:srgbClr val="82C2DD"/>
                </a:solidFill>
                <a:latin typeface="Calibri"/>
              </a:rPr>
              <a:t>&amp; Recommendation Prototype</a:t>
            </a:r>
          </a:p>
        </p:txBody>
      </p:sp>
      <p:sp>
        <p:nvSpPr>
          <p:cNvPr id="8" name="TextBox 7"/>
          <p:cNvSpPr txBox="1"/>
          <p:nvPr/>
        </p:nvSpPr>
        <p:spPr>
          <a:xfrm>
            <a:off x="1444752" y="3529584"/>
            <a:ext cx="6858000" cy="457200"/>
          </a:xfrm>
          <a:prstGeom prst="rect">
            <a:avLst/>
          </a:prstGeom>
          <a:noFill/>
        </p:spPr>
        <p:txBody>
          <a:bodyPr wrap="square" lIns="0" tIns="0" rIns="0" bIns="0" anchor="t">
            <a:spAutoFit/>
          </a:bodyPr>
          <a:lstStyle/>
          <a:p>
            <a:pPr algn="l">
              <a:spcBef>
                <a:spcPts val="0"/>
              </a:spcBef>
              <a:spcAft>
                <a:spcPts val="0"/>
              </a:spcAft>
            </a:pPr>
            <a:r>
              <a:rPr sz="1800" b="0">
                <a:solidFill>
                  <a:srgbClr val="233E67"/>
                </a:solidFill>
                <a:latin typeface="Calibri"/>
              </a:rPr>
              <a:t>Visual Search &amp; Inspiration Experience  ·  Pilot Phase</a:t>
            </a:r>
          </a:p>
        </p:txBody>
      </p:sp>
      <p:sp>
        <p:nvSpPr>
          <p:cNvPr id="9" name="Rectangle 8"/>
          <p:cNvSpPr/>
          <p:nvPr/>
        </p:nvSpPr>
        <p:spPr>
          <a:xfrm>
            <a:off x="1463040" y="4187952"/>
            <a:ext cx="2834640" cy="27432"/>
          </a:xfrm>
          <a:prstGeom prst="rect">
            <a:avLst/>
          </a:prstGeom>
          <a:solidFill>
            <a:srgbClr val="82C2DD"/>
          </a:solidFill>
          <a:ln>
            <a:noFill/>
          </a:ln>
          <a:effectLst/>
        </p:spPr>
        <p:txBody>
          <a:bodyPr rtlCol="0" anchor="ctr"/>
          <a:lstStyle/>
          <a:p>
            <a:pPr algn="ctr"/>
            <a:endParaRPr/>
          </a:p>
        </p:txBody>
      </p:sp>
      <p:sp>
        <p:nvSpPr>
          <p:cNvPr id="10" name="TextBox 9"/>
          <p:cNvSpPr txBox="1"/>
          <p:nvPr/>
        </p:nvSpPr>
        <p:spPr>
          <a:xfrm>
            <a:off x="1463040" y="4407408"/>
            <a:ext cx="6858000" cy="548640"/>
          </a:xfrm>
          <a:prstGeom prst="rect">
            <a:avLst/>
          </a:prstGeom>
          <a:noFill/>
        </p:spPr>
        <p:txBody>
          <a:bodyPr wrap="square" lIns="0" tIns="0" rIns="0" bIns="0" anchor="t">
            <a:spAutoFit/>
          </a:bodyPr>
          <a:lstStyle/>
          <a:p>
            <a:pPr algn="l">
              <a:spcBef>
                <a:spcPts val="0"/>
              </a:spcBef>
              <a:spcAft>
                <a:spcPts val="300"/>
              </a:spcAft>
            </a:pPr>
            <a:r>
              <a:rPr sz="1300" b="1">
                <a:solidFill>
                  <a:srgbClr val="7A8CA6"/>
                </a:solidFill>
                <a:latin typeface="Calibri"/>
              </a:rPr>
              <a:t>Client: </a:t>
            </a:r>
            <a:r>
              <a:rPr sz="1300" b="0">
                <a:solidFill>
                  <a:srgbClr val="4A5E80"/>
                </a:solidFill>
                <a:latin typeface="Calibri"/>
              </a:rPr>
              <a:t>Corona  ·  Vajillas Corona</a:t>
            </a:r>
          </a:p>
          <a:p>
            <a:pPr algn="l">
              <a:spcBef>
                <a:spcPts val="0"/>
              </a:spcBef>
              <a:spcAft>
                <a:spcPts val="0"/>
              </a:spcAft>
            </a:pPr>
            <a:r>
              <a:rPr sz="1300" b="1">
                <a:solidFill>
                  <a:srgbClr val="7A8CA6"/>
                </a:solidFill>
                <a:latin typeface="Calibri"/>
              </a:rPr>
              <a:t>Project: </a:t>
            </a:r>
            <a:r>
              <a:rPr sz="1300" b="0">
                <a:solidFill>
                  <a:srgbClr val="4A5E80"/>
                </a:solidFill>
                <a:latin typeface="Calibri"/>
              </a:rPr>
              <a:t>Digital Visual Search &amp; Inspiration Experience</a:t>
            </a:r>
          </a:p>
        </p:txBody>
      </p:sp>
      <p:sp>
        <p:nvSpPr>
          <p:cNvPr id="11" name="Rectangle 10"/>
          <p:cNvSpPr/>
          <p:nvPr/>
        </p:nvSpPr>
        <p:spPr>
          <a:xfrm>
            <a:off x="1463040" y="5230368"/>
            <a:ext cx="3246120" cy="256032"/>
          </a:xfrm>
          <a:prstGeom prst="rect">
            <a:avLst/>
          </a:prstGeom>
          <a:solidFill>
            <a:srgbClr val="ECF4F9"/>
          </a:solidFill>
          <a:ln>
            <a:noFill/>
          </a:ln>
          <a:effectLst/>
        </p:spPr>
        <p:txBody>
          <a:bodyPr rtlCol="0" anchor="ctr"/>
          <a:lstStyle/>
          <a:p>
            <a:pPr algn="ctr"/>
            <a:endParaRPr/>
          </a:p>
        </p:txBody>
      </p:sp>
      <p:sp>
        <p:nvSpPr>
          <p:cNvPr id="12" name="TextBox 11"/>
          <p:cNvSpPr txBox="1"/>
          <p:nvPr/>
        </p:nvSpPr>
        <p:spPr>
          <a:xfrm>
            <a:off x="1463040" y="5230368"/>
            <a:ext cx="3246120" cy="256032"/>
          </a:xfrm>
          <a:prstGeom prst="rect">
            <a:avLst/>
          </a:prstGeom>
          <a:noFill/>
        </p:spPr>
        <p:txBody>
          <a:bodyPr wrap="square" lIns="0" tIns="0" rIns="0" bIns="0" anchor="ctr">
            <a:spAutoFit/>
          </a:bodyPr>
          <a:lstStyle/>
          <a:p>
            <a:pPr algn="ctr">
              <a:spcBef>
                <a:spcPts val="0"/>
              </a:spcBef>
              <a:spcAft>
                <a:spcPts val="0"/>
              </a:spcAft>
            </a:pPr>
            <a:r>
              <a:rPr sz="850" b="1">
                <a:solidFill>
                  <a:srgbClr val="233E67"/>
                </a:solidFill>
                <a:latin typeface="Calibri"/>
              </a:rPr>
              <a:t>INNOVATION &amp; DIGITAL TRANSFORMATION</a:t>
            </a:r>
          </a:p>
        </p:txBody>
      </p:sp>
      <p:sp>
        <p:nvSpPr>
          <p:cNvPr id="13" name="Rectangle 12"/>
          <p:cNvSpPr/>
          <p:nvPr/>
        </p:nvSpPr>
        <p:spPr>
          <a:xfrm>
            <a:off x="4892040" y="5230368"/>
            <a:ext cx="1417320" cy="256032"/>
          </a:xfrm>
          <a:prstGeom prst="rect">
            <a:avLst/>
          </a:prstGeom>
          <a:solidFill>
            <a:srgbClr val="ECF4F9"/>
          </a:solidFill>
          <a:ln>
            <a:noFill/>
          </a:ln>
          <a:effectLst/>
        </p:spPr>
        <p:txBody>
          <a:bodyPr rtlCol="0" anchor="ctr"/>
          <a:lstStyle/>
          <a:p>
            <a:pPr algn="ctr"/>
            <a:endParaRPr/>
          </a:p>
        </p:txBody>
      </p:sp>
      <p:sp>
        <p:nvSpPr>
          <p:cNvPr id="14" name="TextBox 13"/>
          <p:cNvSpPr txBox="1"/>
          <p:nvPr/>
        </p:nvSpPr>
        <p:spPr>
          <a:xfrm>
            <a:off x="4892040" y="5230368"/>
            <a:ext cx="1417320" cy="256032"/>
          </a:xfrm>
          <a:prstGeom prst="rect">
            <a:avLst/>
          </a:prstGeom>
          <a:noFill/>
        </p:spPr>
        <p:txBody>
          <a:bodyPr wrap="square" lIns="0" tIns="0" rIns="0" bIns="0" anchor="ctr">
            <a:spAutoFit/>
          </a:bodyPr>
          <a:lstStyle/>
          <a:p>
            <a:pPr algn="ctr">
              <a:spcBef>
                <a:spcPts val="0"/>
              </a:spcBef>
              <a:spcAft>
                <a:spcPts val="0"/>
              </a:spcAft>
            </a:pPr>
            <a:r>
              <a:rPr sz="850" b="1">
                <a:solidFill>
                  <a:srgbClr val="233E67"/>
                </a:solidFill>
                <a:latin typeface="Calibri"/>
              </a:rPr>
              <a:t>PILOT PHASE</a:t>
            </a:r>
          </a:p>
        </p:txBody>
      </p:sp>
      <p:sp>
        <p:nvSpPr>
          <p:cNvPr id="15" name="Rectangle 14"/>
          <p:cNvSpPr/>
          <p:nvPr/>
        </p:nvSpPr>
        <p:spPr>
          <a:xfrm>
            <a:off x="6492240" y="5230368"/>
            <a:ext cx="1691640" cy="256032"/>
          </a:xfrm>
          <a:prstGeom prst="rect">
            <a:avLst/>
          </a:prstGeom>
          <a:solidFill>
            <a:srgbClr val="ECF4F9"/>
          </a:solidFill>
          <a:ln>
            <a:noFill/>
          </a:ln>
          <a:effectLst/>
        </p:spPr>
        <p:txBody>
          <a:bodyPr rtlCol="0" anchor="ctr"/>
          <a:lstStyle/>
          <a:p>
            <a:pPr algn="ctr"/>
            <a:endParaRPr/>
          </a:p>
        </p:txBody>
      </p:sp>
      <p:sp>
        <p:nvSpPr>
          <p:cNvPr id="16" name="TextBox 15"/>
          <p:cNvSpPr txBox="1"/>
          <p:nvPr/>
        </p:nvSpPr>
        <p:spPr>
          <a:xfrm>
            <a:off x="6492240" y="5230368"/>
            <a:ext cx="1691640" cy="256032"/>
          </a:xfrm>
          <a:prstGeom prst="rect">
            <a:avLst/>
          </a:prstGeom>
          <a:noFill/>
        </p:spPr>
        <p:txBody>
          <a:bodyPr wrap="square" lIns="0" tIns="0" rIns="0" bIns="0" anchor="ctr">
            <a:spAutoFit/>
          </a:bodyPr>
          <a:lstStyle/>
          <a:p>
            <a:pPr algn="ctr">
              <a:spcBef>
                <a:spcPts val="0"/>
              </a:spcBef>
              <a:spcAft>
                <a:spcPts val="0"/>
              </a:spcAft>
            </a:pPr>
            <a:r>
              <a:rPr sz="850" b="1">
                <a:solidFill>
                  <a:srgbClr val="233E67"/>
                </a:solidFill>
                <a:latin typeface="Calibri"/>
              </a:rPr>
              <a:t>GRADUATE INTERN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l_watermark.png"/>
          <p:cNvPicPr>
            <a:picLocks noChangeAspect="1"/>
          </p:cNvPicPr>
          <p:nvPr/>
        </p:nvPicPr>
        <p:blipFill>
          <a:blip r:embed="rId2"/>
          <a:stretch>
            <a:fillRect/>
          </a:stretch>
        </p:blipFill>
        <p:spPr>
          <a:xfrm>
            <a:off x="0" y="5724144"/>
            <a:ext cx="1517904" cy="1133856"/>
          </a:xfrm>
          <a:prstGeom prst="rect">
            <a:avLst/>
          </a:prstGeom>
        </p:spPr>
      </p:pic>
      <p:pic>
        <p:nvPicPr>
          <p:cNvPr id="3" name="Picture 2" descr="ll_145anos.png"/>
          <p:cNvPicPr>
            <a:picLocks noChangeAspect="1"/>
          </p:cNvPicPr>
          <p:nvPr/>
        </p:nvPicPr>
        <p:blipFill>
          <a:blip r:embed="rId3"/>
          <a:stretch>
            <a:fillRect/>
          </a:stretch>
        </p:blipFill>
        <p:spPr>
          <a:xfrm>
            <a:off x="0" y="6135624"/>
            <a:ext cx="1325880" cy="722376"/>
          </a:xfrm>
          <a:prstGeom prst="rect">
            <a:avLst/>
          </a:prstGeom>
        </p:spPr>
      </p:pic>
      <p:pic>
        <p:nvPicPr>
          <p:cNvPr id="4" name="Picture 3" descr="corona_mark.png"/>
          <p:cNvPicPr>
            <a:picLocks noChangeAspect="1"/>
          </p:cNvPicPr>
          <p:nvPr/>
        </p:nvPicPr>
        <p:blipFill>
          <a:blip r:embed="rId4"/>
          <a:stretch>
            <a:fillRect/>
          </a:stretch>
        </p:blipFill>
        <p:spPr>
          <a:xfrm>
            <a:off x="10780776" y="6336792"/>
            <a:ext cx="1060704" cy="155448"/>
          </a:xfrm>
          <a:prstGeom prst="rect">
            <a:avLst/>
          </a:prstGeom>
        </p:spPr>
      </p:pic>
      <p:sp>
        <p:nvSpPr>
          <p:cNvPr id="5" name="TextBox 4"/>
          <p:cNvSpPr txBox="1"/>
          <p:nvPr/>
        </p:nvSpPr>
        <p:spPr>
          <a:xfrm>
            <a:off x="338328" y="384048"/>
            <a:ext cx="8778240" cy="402336"/>
          </a:xfrm>
          <a:prstGeom prst="rect">
            <a:avLst/>
          </a:prstGeom>
          <a:noFill/>
        </p:spPr>
        <p:txBody>
          <a:bodyPr wrap="square" lIns="0" tIns="0" rIns="0" bIns="0" anchor="t">
            <a:spAutoFit/>
          </a:bodyPr>
          <a:lstStyle/>
          <a:p>
            <a:pPr algn="l">
              <a:spcBef>
                <a:spcPts val="0"/>
              </a:spcBef>
              <a:spcAft>
                <a:spcPts val="0"/>
              </a:spcAft>
            </a:pPr>
            <a:r>
              <a:rPr sz="2400" b="1">
                <a:solidFill>
                  <a:srgbClr val="82C2DD"/>
                </a:solidFill>
                <a:latin typeface="Calibri"/>
              </a:rPr>
              <a:t>Visual Search &amp; Recommendation</a:t>
            </a:r>
          </a:p>
        </p:txBody>
      </p:sp>
      <p:sp>
        <p:nvSpPr>
          <p:cNvPr id="6" name="TextBox 5"/>
          <p:cNvSpPr txBox="1"/>
          <p:nvPr/>
        </p:nvSpPr>
        <p:spPr>
          <a:xfrm>
            <a:off x="338328" y="804672"/>
            <a:ext cx="9509760" cy="457200"/>
          </a:xfrm>
          <a:prstGeom prst="rect">
            <a:avLst/>
          </a:prstGeom>
          <a:noFill/>
        </p:spPr>
        <p:txBody>
          <a:bodyPr wrap="square" lIns="0" tIns="0" rIns="0" bIns="0" anchor="t">
            <a:spAutoFit/>
          </a:bodyPr>
          <a:lstStyle/>
          <a:p>
            <a:pPr algn="l">
              <a:spcBef>
                <a:spcPts val="0"/>
              </a:spcBef>
              <a:spcAft>
                <a:spcPts val="0"/>
              </a:spcAft>
            </a:pPr>
            <a:r>
              <a:rPr sz="2000" b="1">
                <a:solidFill>
                  <a:srgbClr val="233E67"/>
                </a:solidFill>
                <a:latin typeface="Calibri"/>
              </a:rPr>
              <a:t>Context and objective of the project</a:t>
            </a:r>
          </a:p>
        </p:txBody>
      </p:sp>
      <p:sp>
        <p:nvSpPr>
          <p:cNvPr id="7" name="TextBox 6"/>
          <p:cNvSpPr txBox="1"/>
          <p:nvPr/>
        </p:nvSpPr>
        <p:spPr>
          <a:xfrm>
            <a:off x="365760" y="1316736"/>
            <a:ext cx="11430000" cy="219456"/>
          </a:xfrm>
          <a:prstGeom prst="rect">
            <a:avLst/>
          </a:prstGeom>
          <a:noFill/>
        </p:spPr>
        <p:txBody>
          <a:bodyPr wrap="square" lIns="0" tIns="0" rIns="0" bIns="0" anchor="t">
            <a:spAutoFit/>
          </a:bodyPr>
          <a:lstStyle/>
          <a:p>
            <a:pPr algn="l">
              <a:spcBef>
                <a:spcPts val="0"/>
              </a:spcBef>
              <a:spcAft>
                <a:spcPts val="0"/>
              </a:spcAft>
            </a:pPr>
            <a:r>
              <a:rPr sz="950" b="1">
                <a:solidFill>
                  <a:srgbClr val="7A8CA6"/>
                </a:solidFill>
                <a:latin typeface="Calibri"/>
              </a:rPr>
              <a:t>Client: </a:t>
            </a:r>
            <a:r>
              <a:rPr sz="950" b="0">
                <a:solidFill>
                  <a:srgbClr val="4A5E80"/>
                </a:solidFill>
                <a:latin typeface="Calibri"/>
              </a:rPr>
              <a:t>Corona · Vajillas Corona</a:t>
            </a:r>
            <a:r>
              <a:rPr sz="950" b="0">
                <a:solidFill>
                  <a:srgbClr val="C6D2DF"/>
                </a:solidFill>
                <a:latin typeface="Calibri"/>
              </a:rPr>
              <a:t>     |     </a:t>
            </a:r>
            <a:r>
              <a:rPr sz="950" b="1">
                <a:solidFill>
                  <a:srgbClr val="7A8CA6"/>
                </a:solidFill>
                <a:latin typeface="Calibri"/>
              </a:rPr>
              <a:t>Project: </a:t>
            </a:r>
            <a:r>
              <a:rPr sz="950" b="0">
                <a:solidFill>
                  <a:srgbClr val="4A5E80"/>
                </a:solidFill>
                <a:latin typeface="Calibri"/>
              </a:rPr>
              <a:t>Digital Visual Search &amp; Inspiration Experience</a:t>
            </a:r>
            <a:r>
              <a:rPr sz="950" b="0">
                <a:solidFill>
                  <a:srgbClr val="C6D2DF"/>
                </a:solidFill>
                <a:latin typeface="Calibri"/>
              </a:rPr>
              <a:t>     |     </a:t>
            </a:r>
            <a:r>
              <a:rPr sz="950" b="1">
                <a:solidFill>
                  <a:srgbClr val="7A8CA6"/>
                </a:solidFill>
                <a:latin typeface="Calibri"/>
              </a:rPr>
              <a:t>Stage: </a:t>
            </a:r>
            <a:r>
              <a:rPr sz="950" b="0">
                <a:solidFill>
                  <a:srgbClr val="4A5E80"/>
                </a:solidFill>
                <a:latin typeface="Calibri"/>
              </a:rPr>
              <a:t>Pilot / PoC</a:t>
            </a:r>
            <a:r>
              <a:rPr sz="950" b="0">
                <a:solidFill>
                  <a:srgbClr val="C6D2DF"/>
                </a:solidFill>
                <a:latin typeface="Calibri"/>
              </a:rPr>
              <a:t>     |     </a:t>
            </a:r>
            <a:r>
              <a:rPr sz="950" b="1">
                <a:solidFill>
                  <a:srgbClr val="7A8CA6"/>
                </a:solidFill>
                <a:latin typeface="Calibri"/>
              </a:rPr>
              <a:t>Role: </a:t>
            </a:r>
            <a:r>
              <a:rPr sz="950" b="0">
                <a:solidFill>
                  <a:srgbClr val="4A5E80"/>
                </a:solidFill>
                <a:latin typeface="Calibri"/>
              </a:rPr>
              <a:t>Graduate intern</a:t>
            </a:r>
          </a:p>
        </p:txBody>
      </p:sp>
      <p:sp>
        <p:nvSpPr>
          <p:cNvPr id="8" name="Rectangle 7"/>
          <p:cNvSpPr/>
          <p:nvPr/>
        </p:nvSpPr>
        <p:spPr>
          <a:xfrm>
            <a:off x="384048" y="1920240"/>
            <a:ext cx="5577840" cy="2240280"/>
          </a:xfrm>
          <a:prstGeom prst="rect">
            <a:avLst/>
          </a:prstGeom>
          <a:solidFill>
            <a:srgbClr val="F4F8FB"/>
          </a:solidFill>
          <a:ln>
            <a:noFill/>
          </a:ln>
          <a:effectLst/>
        </p:spPr>
        <p:txBody>
          <a:bodyPr rtlCol="0" anchor="ctr"/>
          <a:lstStyle/>
          <a:p>
            <a:pPr algn="ctr"/>
            <a:endParaRPr/>
          </a:p>
        </p:txBody>
      </p:sp>
      <p:sp>
        <p:nvSpPr>
          <p:cNvPr id="9" name="Rectangle 8"/>
          <p:cNvSpPr/>
          <p:nvPr/>
        </p:nvSpPr>
        <p:spPr>
          <a:xfrm>
            <a:off x="384048" y="1920240"/>
            <a:ext cx="36576" cy="2240280"/>
          </a:xfrm>
          <a:prstGeom prst="rect">
            <a:avLst/>
          </a:prstGeom>
          <a:solidFill>
            <a:srgbClr val="82C2DD"/>
          </a:solidFill>
          <a:ln>
            <a:noFill/>
          </a:ln>
          <a:effectLst/>
        </p:spPr>
        <p:txBody>
          <a:bodyPr rtlCol="0" anchor="ctr"/>
          <a:lstStyle/>
          <a:p>
            <a:pPr algn="ctr"/>
            <a:endParaRPr/>
          </a:p>
        </p:txBody>
      </p:sp>
      <p:sp>
        <p:nvSpPr>
          <p:cNvPr id="10" name="TextBox 9"/>
          <p:cNvSpPr txBox="1"/>
          <p:nvPr/>
        </p:nvSpPr>
        <p:spPr>
          <a:xfrm>
            <a:off x="603503" y="2084831"/>
            <a:ext cx="5138927" cy="1920240"/>
          </a:xfrm>
          <a:prstGeom prst="rect">
            <a:avLst/>
          </a:prstGeom>
          <a:noFill/>
        </p:spPr>
        <p:txBody>
          <a:bodyPr wrap="square" lIns="0" tIns="0" rIns="0" bIns="0" anchor="ctr">
            <a:spAutoFit/>
          </a:bodyPr>
          <a:lstStyle/>
          <a:p>
            <a:pPr algn="l">
              <a:spcBef>
                <a:spcPts val="0"/>
              </a:spcBef>
              <a:spcAft>
                <a:spcPts val="100"/>
              </a:spcAft>
            </a:pPr>
            <a:r>
              <a:rPr sz="950" b="1">
                <a:solidFill>
                  <a:srgbClr val="233E67"/>
                </a:solidFill>
                <a:latin typeface="Calibri"/>
              </a:rPr>
              <a:t>WHY THIS PROJECT</a:t>
            </a:r>
          </a:p>
          <a:p>
            <a:pPr algn="l">
              <a:spcBef>
                <a:spcPts val="0"/>
              </a:spcBef>
              <a:spcAft>
                <a:spcPts val="500"/>
              </a:spcAft>
            </a:pPr>
            <a:r>
              <a:rPr sz="850" b="0">
                <a:solidFill>
                  <a:srgbClr val="7A8CA6"/>
                </a:solidFill>
                <a:latin typeface="Calibri"/>
              </a:rPr>
              <a:t>Why are we doing it?</a:t>
            </a:r>
          </a:p>
          <a:p>
            <a:pPr algn="l">
              <a:lnSpc>
                <a:spcPct val="115000"/>
              </a:lnSpc>
              <a:spcBef>
                <a:spcPts val="0"/>
              </a:spcBef>
              <a:spcAft>
                <a:spcPts val="0"/>
              </a:spcAft>
            </a:pPr>
            <a:r>
              <a:rPr sz="1200" b="0">
                <a:solidFill>
                  <a:srgbClr val="4A5E80"/>
                </a:solidFill>
                <a:latin typeface="Calibri"/>
              </a:rPr>
              <a:t>The Innovation &amp; Digital Transformation team is designing the future of the shopping experience. Before any deep integration into the technology core of vajillascorona.com.co, we will run a market experiment to validate the traction and usability of a new intelligent tool.</a:t>
            </a:r>
          </a:p>
        </p:txBody>
      </p:sp>
      <p:sp>
        <p:nvSpPr>
          <p:cNvPr id="11" name="Rectangle 10"/>
          <p:cNvSpPr/>
          <p:nvPr/>
        </p:nvSpPr>
        <p:spPr>
          <a:xfrm>
            <a:off x="6236207" y="1920240"/>
            <a:ext cx="5577840" cy="2240280"/>
          </a:xfrm>
          <a:prstGeom prst="rect">
            <a:avLst/>
          </a:prstGeom>
          <a:solidFill>
            <a:srgbClr val="F4F8FB"/>
          </a:solidFill>
          <a:ln>
            <a:noFill/>
          </a:ln>
          <a:effectLst/>
        </p:spPr>
        <p:txBody>
          <a:bodyPr rtlCol="0" anchor="ctr"/>
          <a:lstStyle/>
          <a:p>
            <a:pPr algn="ctr"/>
            <a:endParaRPr/>
          </a:p>
        </p:txBody>
      </p:sp>
      <p:sp>
        <p:nvSpPr>
          <p:cNvPr id="12" name="Rectangle 11"/>
          <p:cNvSpPr/>
          <p:nvPr/>
        </p:nvSpPr>
        <p:spPr>
          <a:xfrm>
            <a:off x="6236207" y="1920240"/>
            <a:ext cx="36576" cy="2240280"/>
          </a:xfrm>
          <a:prstGeom prst="rect">
            <a:avLst/>
          </a:prstGeom>
          <a:solidFill>
            <a:srgbClr val="82C2DD"/>
          </a:solidFill>
          <a:ln>
            <a:noFill/>
          </a:ln>
          <a:effectLst/>
        </p:spPr>
        <p:txBody>
          <a:bodyPr rtlCol="0" anchor="ctr"/>
          <a:lstStyle/>
          <a:p>
            <a:pPr algn="ctr"/>
            <a:endParaRPr/>
          </a:p>
        </p:txBody>
      </p:sp>
      <p:sp>
        <p:nvSpPr>
          <p:cNvPr id="13" name="TextBox 12"/>
          <p:cNvSpPr txBox="1"/>
          <p:nvPr/>
        </p:nvSpPr>
        <p:spPr>
          <a:xfrm>
            <a:off x="6455664" y="2084831"/>
            <a:ext cx="5138927" cy="1920240"/>
          </a:xfrm>
          <a:prstGeom prst="rect">
            <a:avLst/>
          </a:prstGeom>
          <a:noFill/>
        </p:spPr>
        <p:txBody>
          <a:bodyPr wrap="square" lIns="0" tIns="0" rIns="0" bIns="0" anchor="ctr">
            <a:spAutoFit/>
          </a:bodyPr>
          <a:lstStyle/>
          <a:p>
            <a:pPr algn="l">
              <a:spcBef>
                <a:spcPts val="0"/>
              </a:spcBef>
              <a:spcAft>
                <a:spcPts val="100"/>
              </a:spcAft>
            </a:pPr>
            <a:r>
              <a:rPr sz="950" b="1">
                <a:solidFill>
                  <a:srgbClr val="233E67"/>
                </a:solidFill>
                <a:latin typeface="Calibri"/>
              </a:rPr>
              <a:t>OBJECTIVE OF THE INTERNSHIP</a:t>
            </a:r>
          </a:p>
          <a:p>
            <a:pPr algn="l">
              <a:spcBef>
                <a:spcPts val="0"/>
              </a:spcBef>
              <a:spcAft>
                <a:spcPts val="500"/>
              </a:spcAft>
            </a:pPr>
            <a:r>
              <a:rPr sz="850" b="0">
                <a:solidFill>
                  <a:srgbClr val="7A8CA6"/>
                </a:solidFill>
                <a:latin typeface="Calibri"/>
              </a:rPr>
              <a:t>What are you going to build?</a:t>
            </a:r>
          </a:p>
          <a:p>
            <a:pPr algn="l">
              <a:lnSpc>
                <a:spcPct val="115000"/>
              </a:lnSpc>
              <a:spcBef>
                <a:spcPts val="0"/>
              </a:spcBef>
              <a:spcAft>
                <a:spcPts val="0"/>
              </a:spcAft>
            </a:pPr>
            <a:r>
              <a:rPr sz="1200" b="0">
                <a:solidFill>
                  <a:srgbClr val="4A5E80"/>
                </a:solidFill>
                <a:latin typeface="Calibri"/>
              </a:rPr>
              <a:t>Design and develop a 100% functional and automated web prototype (No-Code / Low-Code or agile development) that lives on its own standalone local URL. It must simulate the final experience, handle interactions through AI and, only in the final step, redirect the customer to the purchase links of the official store vajillascorona.com.co.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l_watermark.png"/>
          <p:cNvPicPr>
            <a:picLocks noChangeAspect="1"/>
          </p:cNvPicPr>
          <p:nvPr/>
        </p:nvPicPr>
        <p:blipFill>
          <a:blip r:embed="rId2"/>
          <a:stretch>
            <a:fillRect/>
          </a:stretch>
        </p:blipFill>
        <p:spPr>
          <a:xfrm>
            <a:off x="0" y="5724144"/>
            <a:ext cx="1517904" cy="1133856"/>
          </a:xfrm>
          <a:prstGeom prst="rect">
            <a:avLst/>
          </a:prstGeom>
        </p:spPr>
      </p:pic>
      <p:pic>
        <p:nvPicPr>
          <p:cNvPr id="3" name="Picture 2" descr="ll_145anos.png"/>
          <p:cNvPicPr>
            <a:picLocks noChangeAspect="1"/>
          </p:cNvPicPr>
          <p:nvPr/>
        </p:nvPicPr>
        <p:blipFill>
          <a:blip r:embed="rId3"/>
          <a:stretch>
            <a:fillRect/>
          </a:stretch>
        </p:blipFill>
        <p:spPr>
          <a:xfrm>
            <a:off x="0" y="6135624"/>
            <a:ext cx="1325880" cy="722376"/>
          </a:xfrm>
          <a:prstGeom prst="rect">
            <a:avLst/>
          </a:prstGeom>
        </p:spPr>
      </p:pic>
      <p:pic>
        <p:nvPicPr>
          <p:cNvPr id="4" name="Picture 3" descr="corona_mark.png"/>
          <p:cNvPicPr>
            <a:picLocks noChangeAspect="1"/>
          </p:cNvPicPr>
          <p:nvPr/>
        </p:nvPicPr>
        <p:blipFill>
          <a:blip r:embed="rId4"/>
          <a:stretch>
            <a:fillRect/>
          </a:stretch>
        </p:blipFill>
        <p:spPr>
          <a:xfrm>
            <a:off x="10780776" y="6336792"/>
            <a:ext cx="1060704" cy="155448"/>
          </a:xfrm>
          <a:prstGeom prst="rect">
            <a:avLst/>
          </a:prstGeom>
        </p:spPr>
      </p:pic>
      <p:sp>
        <p:nvSpPr>
          <p:cNvPr id="5" name="TextBox 4"/>
          <p:cNvSpPr txBox="1"/>
          <p:nvPr/>
        </p:nvSpPr>
        <p:spPr>
          <a:xfrm>
            <a:off x="338328" y="384048"/>
            <a:ext cx="8778240" cy="402336"/>
          </a:xfrm>
          <a:prstGeom prst="rect">
            <a:avLst/>
          </a:prstGeom>
          <a:noFill/>
        </p:spPr>
        <p:txBody>
          <a:bodyPr wrap="square" lIns="0" tIns="0" rIns="0" bIns="0" anchor="t">
            <a:spAutoFit/>
          </a:bodyPr>
          <a:lstStyle/>
          <a:p>
            <a:pPr algn="l">
              <a:spcBef>
                <a:spcPts val="0"/>
              </a:spcBef>
              <a:spcAft>
                <a:spcPts val="0"/>
              </a:spcAft>
            </a:pPr>
            <a:r>
              <a:rPr sz="2400" b="1">
                <a:solidFill>
                  <a:srgbClr val="82C2DD"/>
                </a:solidFill>
                <a:latin typeface="Calibri"/>
              </a:rPr>
              <a:t>Visual Search &amp; Recommendation</a:t>
            </a:r>
          </a:p>
        </p:txBody>
      </p:sp>
      <p:sp>
        <p:nvSpPr>
          <p:cNvPr id="6" name="TextBox 5"/>
          <p:cNvSpPr txBox="1"/>
          <p:nvPr/>
        </p:nvSpPr>
        <p:spPr>
          <a:xfrm>
            <a:off x="338328" y="804672"/>
            <a:ext cx="9509760" cy="457200"/>
          </a:xfrm>
          <a:prstGeom prst="rect">
            <a:avLst/>
          </a:prstGeom>
          <a:noFill/>
        </p:spPr>
        <p:txBody>
          <a:bodyPr wrap="square" lIns="0" tIns="0" rIns="0" bIns="0" anchor="t">
            <a:spAutoFit/>
          </a:bodyPr>
          <a:lstStyle/>
          <a:p>
            <a:pPr algn="l">
              <a:spcBef>
                <a:spcPts val="0"/>
              </a:spcBef>
              <a:spcAft>
                <a:spcPts val="0"/>
              </a:spcAft>
            </a:pPr>
            <a:r>
              <a:rPr sz="2000" b="1">
                <a:solidFill>
                  <a:srgbClr val="233E67"/>
                </a:solidFill>
                <a:latin typeface="Calibri"/>
              </a:rPr>
              <a:t>Unified scope of the solution</a:t>
            </a:r>
          </a:p>
        </p:txBody>
      </p:sp>
      <p:sp>
        <p:nvSpPr>
          <p:cNvPr id="7" name="TextBox 6"/>
          <p:cNvSpPr txBox="1"/>
          <p:nvPr/>
        </p:nvSpPr>
        <p:spPr>
          <a:xfrm>
            <a:off x="365760" y="1316736"/>
            <a:ext cx="11430000" cy="219456"/>
          </a:xfrm>
          <a:prstGeom prst="rect">
            <a:avLst/>
          </a:prstGeom>
          <a:noFill/>
        </p:spPr>
        <p:txBody>
          <a:bodyPr wrap="square" lIns="0" tIns="0" rIns="0" bIns="0" anchor="t">
            <a:spAutoFit/>
          </a:bodyPr>
          <a:lstStyle/>
          <a:p>
            <a:pPr algn="l">
              <a:spcBef>
                <a:spcPts val="0"/>
              </a:spcBef>
              <a:spcAft>
                <a:spcPts val="0"/>
              </a:spcAft>
            </a:pPr>
            <a:r>
              <a:rPr sz="950" b="1">
                <a:solidFill>
                  <a:srgbClr val="7A8CA6"/>
                </a:solidFill>
                <a:latin typeface="Calibri"/>
              </a:rPr>
              <a:t>Phase: </a:t>
            </a:r>
            <a:r>
              <a:rPr sz="950" b="0">
                <a:solidFill>
                  <a:srgbClr val="4A5E80"/>
                </a:solidFill>
                <a:latin typeface="Calibri"/>
              </a:rPr>
              <a:t>Pilot</a:t>
            </a:r>
            <a:r>
              <a:rPr sz="950" b="0">
                <a:solidFill>
                  <a:srgbClr val="C6D2DF"/>
                </a:solidFill>
                <a:latin typeface="Calibri"/>
              </a:rPr>
              <a:t>     |     </a:t>
            </a:r>
            <a:r>
              <a:rPr sz="950" b="1">
                <a:solidFill>
                  <a:srgbClr val="7A8CA6"/>
                </a:solidFill>
                <a:latin typeface="Calibri"/>
              </a:rPr>
              <a:t>Channel: </a:t>
            </a:r>
            <a:r>
              <a:rPr sz="950" b="0">
                <a:solidFill>
                  <a:srgbClr val="4A5E80"/>
                </a:solidFill>
                <a:latin typeface="Calibri"/>
              </a:rPr>
              <a:t>Web · Mobile-first</a:t>
            </a:r>
            <a:r>
              <a:rPr sz="950" b="0">
                <a:solidFill>
                  <a:srgbClr val="C6D2DF"/>
                </a:solidFill>
                <a:latin typeface="Calibri"/>
              </a:rPr>
              <a:t>     |     </a:t>
            </a:r>
            <a:r>
              <a:rPr sz="950" b="1">
                <a:solidFill>
                  <a:srgbClr val="7A8CA6"/>
                </a:solidFill>
                <a:latin typeface="Calibri"/>
              </a:rPr>
              <a:t>Environment: </a:t>
            </a:r>
            <a:r>
              <a:rPr sz="950" b="0">
                <a:solidFill>
                  <a:srgbClr val="4A5E80"/>
                </a:solidFill>
                <a:latin typeface="Calibri"/>
              </a:rPr>
              <a:t>Standalone URL, outside the store core</a:t>
            </a:r>
          </a:p>
        </p:txBody>
      </p:sp>
      <p:sp>
        <p:nvSpPr>
          <p:cNvPr id="8" name="Rectangle 7"/>
          <p:cNvSpPr/>
          <p:nvPr/>
        </p:nvSpPr>
        <p:spPr>
          <a:xfrm>
            <a:off x="384048" y="1700784"/>
            <a:ext cx="11430000" cy="896112"/>
          </a:xfrm>
          <a:prstGeom prst="rect">
            <a:avLst/>
          </a:prstGeom>
          <a:solidFill>
            <a:srgbClr val="F4F8FB"/>
          </a:solidFill>
          <a:ln>
            <a:noFill/>
          </a:ln>
          <a:effectLst/>
        </p:spPr>
        <p:txBody>
          <a:bodyPr rtlCol="0" anchor="ctr"/>
          <a:lstStyle/>
          <a:p>
            <a:pPr algn="ctr"/>
            <a:endParaRPr/>
          </a:p>
        </p:txBody>
      </p:sp>
      <p:sp>
        <p:nvSpPr>
          <p:cNvPr id="9" name="Rectangle 8"/>
          <p:cNvSpPr/>
          <p:nvPr/>
        </p:nvSpPr>
        <p:spPr>
          <a:xfrm>
            <a:off x="384048" y="1700784"/>
            <a:ext cx="36576" cy="896112"/>
          </a:xfrm>
          <a:prstGeom prst="rect">
            <a:avLst/>
          </a:prstGeom>
          <a:solidFill>
            <a:srgbClr val="82C2DD"/>
          </a:solidFill>
          <a:ln>
            <a:noFill/>
          </a:ln>
          <a:effectLst/>
        </p:spPr>
        <p:txBody>
          <a:bodyPr rtlCol="0" anchor="ctr"/>
          <a:lstStyle/>
          <a:p>
            <a:pPr algn="ctr"/>
            <a:endParaRPr/>
          </a:p>
        </p:txBody>
      </p:sp>
      <p:sp>
        <p:nvSpPr>
          <p:cNvPr id="10" name="TextBox 9"/>
          <p:cNvSpPr txBox="1"/>
          <p:nvPr/>
        </p:nvSpPr>
        <p:spPr>
          <a:xfrm>
            <a:off x="585216" y="1965960"/>
            <a:ext cx="502920" cy="365760"/>
          </a:xfrm>
          <a:prstGeom prst="rect">
            <a:avLst/>
          </a:prstGeom>
          <a:noFill/>
        </p:spPr>
        <p:txBody>
          <a:bodyPr wrap="square" lIns="0" tIns="0" rIns="0" bIns="0" anchor="t">
            <a:spAutoFit/>
          </a:bodyPr>
          <a:lstStyle/>
          <a:p>
            <a:pPr algn="l">
              <a:spcBef>
                <a:spcPts val="0"/>
              </a:spcBef>
              <a:spcAft>
                <a:spcPts val="0"/>
              </a:spcAft>
            </a:pPr>
            <a:r>
              <a:rPr sz="2000" b="1">
                <a:solidFill>
                  <a:srgbClr val="82C2DD"/>
                </a:solidFill>
                <a:latin typeface="Calibri"/>
              </a:rPr>
              <a:t>01</a:t>
            </a:r>
          </a:p>
        </p:txBody>
      </p:sp>
      <p:sp>
        <p:nvSpPr>
          <p:cNvPr id="11" name="TextBox 10"/>
          <p:cNvSpPr txBox="1"/>
          <p:nvPr/>
        </p:nvSpPr>
        <p:spPr>
          <a:xfrm>
            <a:off x="1170432" y="1938528"/>
            <a:ext cx="3291840" cy="457200"/>
          </a:xfrm>
          <a:prstGeom prst="rect">
            <a:avLst/>
          </a:prstGeom>
          <a:noFill/>
        </p:spPr>
        <p:txBody>
          <a:bodyPr wrap="square" lIns="0" tIns="0" rIns="0" bIns="0" anchor="t">
            <a:spAutoFit/>
          </a:bodyPr>
          <a:lstStyle/>
          <a:p>
            <a:pPr algn="l">
              <a:spcBef>
                <a:spcPts val="0"/>
              </a:spcBef>
              <a:spcAft>
                <a:spcPts val="100"/>
              </a:spcAft>
            </a:pPr>
            <a:r>
              <a:rPr sz="1250" b="1">
                <a:solidFill>
                  <a:srgbClr val="233E67"/>
                </a:solidFill>
                <a:latin typeface="Calibri"/>
              </a:rPr>
              <a:t>Immediate mobile-first access</a:t>
            </a:r>
          </a:p>
          <a:p>
            <a:pPr algn="l">
              <a:spcBef>
                <a:spcPts val="0"/>
              </a:spcBef>
              <a:spcAft>
                <a:spcPts val="0"/>
              </a:spcAft>
            </a:pPr>
            <a:r>
              <a:rPr sz="900" b="0">
                <a:solidFill>
                  <a:srgbClr val="7A8CA6"/>
                </a:solidFill>
                <a:latin typeface="Calibri"/>
              </a:rPr>
              <a:t>Access</a:t>
            </a:r>
          </a:p>
        </p:txBody>
      </p:sp>
      <p:sp>
        <p:nvSpPr>
          <p:cNvPr id="12" name="TextBox 11"/>
          <p:cNvSpPr txBox="1"/>
          <p:nvPr/>
        </p:nvSpPr>
        <p:spPr>
          <a:xfrm>
            <a:off x="4663440" y="1975104"/>
            <a:ext cx="6903720" cy="365760"/>
          </a:xfrm>
          <a:prstGeom prst="rect">
            <a:avLst/>
          </a:prstGeom>
          <a:noFill/>
        </p:spPr>
        <p:txBody>
          <a:bodyPr wrap="square" lIns="0" tIns="0" rIns="0" bIns="0" anchor="t">
            <a:spAutoFit/>
          </a:bodyPr>
          <a:lstStyle/>
          <a:p>
            <a:pPr algn="l">
              <a:spcBef>
                <a:spcPts val="0"/>
              </a:spcBef>
              <a:spcAft>
                <a:spcPts val="0"/>
              </a:spcAft>
            </a:pPr>
            <a:r>
              <a:rPr sz="1050" b="0">
                <a:solidFill>
                  <a:srgbClr val="4A5E80"/>
                </a:solidFill>
                <a:latin typeface="Calibri"/>
              </a:rPr>
              <a:t>A web page that works instantly in the browser, with no application to download.</a:t>
            </a:r>
          </a:p>
        </p:txBody>
      </p:sp>
      <p:sp>
        <p:nvSpPr>
          <p:cNvPr id="13" name="Rectangle 12"/>
          <p:cNvSpPr/>
          <p:nvPr/>
        </p:nvSpPr>
        <p:spPr>
          <a:xfrm>
            <a:off x="384048" y="2697480"/>
            <a:ext cx="11430000" cy="896112"/>
          </a:xfrm>
          <a:prstGeom prst="rect">
            <a:avLst/>
          </a:prstGeom>
          <a:solidFill>
            <a:srgbClr val="F4F8FB"/>
          </a:solidFill>
          <a:ln>
            <a:noFill/>
          </a:ln>
          <a:effectLst/>
        </p:spPr>
        <p:txBody>
          <a:bodyPr rtlCol="0" anchor="ctr"/>
          <a:lstStyle/>
          <a:p>
            <a:pPr algn="ctr"/>
            <a:endParaRPr/>
          </a:p>
        </p:txBody>
      </p:sp>
      <p:sp>
        <p:nvSpPr>
          <p:cNvPr id="14" name="Rectangle 13"/>
          <p:cNvSpPr/>
          <p:nvPr/>
        </p:nvSpPr>
        <p:spPr>
          <a:xfrm>
            <a:off x="384048" y="2697480"/>
            <a:ext cx="36576" cy="896112"/>
          </a:xfrm>
          <a:prstGeom prst="rect">
            <a:avLst/>
          </a:prstGeom>
          <a:solidFill>
            <a:srgbClr val="82C2DD"/>
          </a:solidFill>
          <a:ln>
            <a:noFill/>
          </a:ln>
          <a:effectLst/>
        </p:spPr>
        <p:txBody>
          <a:bodyPr rtlCol="0" anchor="ctr"/>
          <a:lstStyle/>
          <a:p>
            <a:pPr algn="ctr"/>
            <a:endParaRPr/>
          </a:p>
        </p:txBody>
      </p:sp>
      <p:sp>
        <p:nvSpPr>
          <p:cNvPr id="15" name="TextBox 14"/>
          <p:cNvSpPr txBox="1"/>
          <p:nvPr/>
        </p:nvSpPr>
        <p:spPr>
          <a:xfrm>
            <a:off x="585216" y="2962656"/>
            <a:ext cx="502920" cy="365760"/>
          </a:xfrm>
          <a:prstGeom prst="rect">
            <a:avLst/>
          </a:prstGeom>
          <a:noFill/>
        </p:spPr>
        <p:txBody>
          <a:bodyPr wrap="square" lIns="0" tIns="0" rIns="0" bIns="0" anchor="t">
            <a:spAutoFit/>
          </a:bodyPr>
          <a:lstStyle/>
          <a:p>
            <a:pPr algn="l">
              <a:spcBef>
                <a:spcPts val="0"/>
              </a:spcBef>
              <a:spcAft>
                <a:spcPts val="0"/>
              </a:spcAft>
            </a:pPr>
            <a:r>
              <a:rPr sz="2000" b="1">
                <a:solidFill>
                  <a:srgbClr val="82C2DD"/>
                </a:solidFill>
                <a:latin typeface="Calibri"/>
              </a:rPr>
              <a:t>02</a:t>
            </a:r>
          </a:p>
        </p:txBody>
      </p:sp>
      <p:sp>
        <p:nvSpPr>
          <p:cNvPr id="16" name="TextBox 15"/>
          <p:cNvSpPr txBox="1"/>
          <p:nvPr/>
        </p:nvSpPr>
        <p:spPr>
          <a:xfrm>
            <a:off x="1170432" y="2935224"/>
            <a:ext cx="3291840" cy="457200"/>
          </a:xfrm>
          <a:prstGeom prst="rect">
            <a:avLst/>
          </a:prstGeom>
          <a:noFill/>
        </p:spPr>
        <p:txBody>
          <a:bodyPr wrap="square" lIns="0" tIns="0" rIns="0" bIns="0" anchor="t">
            <a:spAutoFit/>
          </a:bodyPr>
          <a:lstStyle/>
          <a:p>
            <a:pPr algn="l">
              <a:spcBef>
                <a:spcPts val="0"/>
              </a:spcBef>
              <a:spcAft>
                <a:spcPts val="100"/>
              </a:spcAft>
            </a:pPr>
            <a:r>
              <a:rPr sz="1250" b="1">
                <a:solidFill>
                  <a:srgbClr val="233E67"/>
                </a:solidFill>
                <a:latin typeface="Calibri"/>
              </a:rPr>
              <a:t>Intelligent search</a:t>
            </a:r>
          </a:p>
          <a:p>
            <a:pPr algn="l">
              <a:spcBef>
                <a:spcPts val="0"/>
              </a:spcBef>
              <a:spcAft>
                <a:spcPts val="0"/>
              </a:spcAft>
            </a:pPr>
            <a:r>
              <a:rPr sz="900" b="0">
                <a:solidFill>
                  <a:srgbClr val="7A8CA6"/>
                </a:solidFill>
                <a:latin typeface="Calibri"/>
              </a:rPr>
              <a:t>Core engine</a:t>
            </a:r>
          </a:p>
        </p:txBody>
      </p:sp>
      <p:sp>
        <p:nvSpPr>
          <p:cNvPr id="17" name="TextBox 16"/>
          <p:cNvSpPr txBox="1"/>
          <p:nvPr/>
        </p:nvSpPr>
        <p:spPr>
          <a:xfrm>
            <a:off x="4663440" y="2971800"/>
            <a:ext cx="6903720" cy="365760"/>
          </a:xfrm>
          <a:prstGeom prst="rect">
            <a:avLst/>
          </a:prstGeom>
          <a:noFill/>
        </p:spPr>
        <p:txBody>
          <a:bodyPr wrap="square" lIns="0" tIns="0" rIns="0" bIns="0" anchor="t">
            <a:spAutoFit/>
          </a:bodyPr>
          <a:lstStyle/>
          <a:p>
            <a:pPr algn="l">
              <a:spcBef>
                <a:spcPts val="0"/>
              </a:spcBef>
              <a:spcAft>
                <a:spcPts val="0"/>
              </a:spcAft>
            </a:pPr>
            <a:r>
              <a:rPr sz="1050" b="0">
                <a:solidFill>
                  <a:srgbClr val="4A5E80"/>
                </a:solidFill>
                <a:latin typeface="Calibri"/>
              </a:rPr>
              <a:t>The user uploads a photo of their tableware or types a description to find the exact Corona pieces.</a:t>
            </a:r>
          </a:p>
        </p:txBody>
      </p:sp>
      <p:sp>
        <p:nvSpPr>
          <p:cNvPr id="18" name="Rectangle 17"/>
          <p:cNvSpPr/>
          <p:nvPr/>
        </p:nvSpPr>
        <p:spPr>
          <a:xfrm>
            <a:off x="384048" y="3694176"/>
            <a:ext cx="11430000" cy="896112"/>
          </a:xfrm>
          <a:prstGeom prst="rect">
            <a:avLst/>
          </a:prstGeom>
          <a:solidFill>
            <a:srgbClr val="F4F8FB"/>
          </a:solidFill>
          <a:ln>
            <a:noFill/>
          </a:ln>
          <a:effectLst/>
        </p:spPr>
        <p:txBody>
          <a:bodyPr rtlCol="0" anchor="ctr"/>
          <a:lstStyle/>
          <a:p>
            <a:pPr algn="ctr"/>
            <a:endParaRPr/>
          </a:p>
        </p:txBody>
      </p:sp>
      <p:sp>
        <p:nvSpPr>
          <p:cNvPr id="19" name="Rectangle 18"/>
          <p:cNvSpPr/>
          <p:nvPr/>
        </p:nvSpPr>
        <p:spPr>
          <a:xfrm>
            <a:off x="384048" y="3694176"/>
            <a:ext cx="36576" cy="896112"/>
          </a:xfrm>
          <a:prstGeom prst="rect">
            <a:avLst/>
          </a:prstGeom>
          <a:solidFill>
            <a:srgbClr val="82C2DD"/>
          </a:solidFill>
          <a:ln>
            <a:noFill/>
          </a:ln>
          <a:effectLst/>
        </p:spPr>
        <p:txBody>
          <a:bodyPr rtlCol="0" anchor="ctr"/>
          <a:lstStyle/>
          <a:p>
            <a:pPr algn="ctr"/>
            <a:endParaRPr/>
          </a:p>
        </p:txBody>
      </p:sp>
      <p:sp>
        <p:nvSpPr>
          <p:cNvPr id="20" name="TextBox 19"/>
          <p:cNvSpPr txBox="1"/>
          <p:nvPr/>
        </p:nvSpPr>
        <p:spPr>
          <a:xfrm>
            <a:off x="585216" y="3959352"/>
            <a:ext cx="502920" cy="365760"/>
          </a:xfrm>
          <a:prstGeom prst="rect">
            <a:avLst/>
          </a:prstGeom>
          <a:noFill/>
        </p:spPr>
        <p:txBody>
          <a:bodyPr wrap="square" lIns="0" tIns="0" rIns="0" bIns="0" anchor="t">
            <a:spAutoFit/>
          </a:bodyPr>
          <a:lstStyle/>
          <a:p>
            <a:pPr algn="l">
              <a:spcBef>
                <a:spcPts val="0"/>
              </a:spcBef>
              <a:spcAft>
                <a:spcPts val="0"/>
              </a:spcAft>
            </a:pPr>
            <a:r>
              <a:rPr sz="2000" b="1">
                <a:solidFill>
                  <a:srgbClr val="82C2DD"/>
                </a:solidFill>
                <a:latin typeface="Calibri"/>
              </a:rPr>
              <a:t>03</a:t>
            </a:r>
          </a:p>
        </p:txBody>
      </p:sp>
      <p:sp>
        <p:nvSpPr>
          <p:cNvPr id="21" name="TextBox 20"/>
          <p:cNvSpPr txBox="1"/>
          <p:nvPr/>
        </p:nvSpPr>
        <p:spPr>
          <a:xfrm>
            <a:off x="1170432" y="3931920"/>
            <a:ext cx="3291840" cy="457200"/>
          </a:xfrm>
          <a:prstGeom prst="rect">
            <a:avLst/>
          </a:prstGeom>
          <a:noFill/>
        </p:spPr>
        <p:txBody>
          <a:bodyPr wrap="square" lIns="0" tIns="0" rIns="0" bIns="0" anchor="t">
            <a:spAutoFit/>
          </a:bodyPr>
          <a:lstStyle/>
          <a:p>
            <a:pPr algn="l">
              <a:spcBef>
                <a:spcPts val="0"/>
              </a:spcBef>
              <a:spcAft>
                <a:spcPts val="100"/>
              </a:spcAft>
            </a:pPr>
            <a:r>
              <a:rPr sz="1250" b="1">
                <a:solidFill>
                  <a:srgbClr val="233E67"/>
                </a:solidFill>
                <a:latin typeface="Calibri"/>
              </a:rPr>
              <a:t>Personalised inspiration</a:t>
            </a:r>
          </a:p>
          <a:p>
            <a:pPr algn="l">
              <a:spcBef>
                <a:spcPts val="0"/>
              </a:spcBef>
              <a:spcAft>
                <a:spcPts val="0"/>
              </a:spcAft>
            </a:pPr>
            <a:r>
              <a:rPr sz="900" b="0">
                <a:solidFill>
                  <a:srgbClr val="7A8CA6"/>
                </a:solidFill>
                <a:latin typeface="Calibri"/>
              </a:rPr>
              <a:t>Recommendation</a:t>
            </a:r>
          </a:p>
        </p:txBody>
      </p:sp>
      <p:sp>
        <p:nvSpPr>
          <p:cNvPr id="22" name="TextBox 21"/>
          <p:cNvSpPr txBox="1"/>
          <p:nvPr/>
        </p:nvSpPr>
        <p:spPr>
          <a:xfrm>
            <a:off x="4663440" y="3968496"/>
            <a:ext cx="6903720" cy="365760"/>
          </a:xfrm>
          <a:prstGeom prst="rect">
            <a:avLst/>
          </a:prstGeom>
          <a:noFill/>
        </p:spPr>
        <p:txBody>
          <a:bodyPr wrap="square" lIns="0" tIns="0" rIns="0" bIns="0" anchor="t">
            <a:spAutoFit/>
          </a:bodyPr>
          <a:lstStyle/>
          <a:p>
            <a:pPr algn="l">
              <a:spcBef>
                <a:spcPts val="0"/>
              </a:spcBef>
              <a:spcAft>
                <a:spcPts val="0"/>
              </a:spcAft>
            </a:pPr>
            <a:r>
              <a:rPr sz="1050" b="0">
                <a:solidFill>
                  <a:srgbClr val="4A5E80"/>
                </a:solidFill>
                <a:latin typeface="Calibri"/>
              </a:rPr>
              <a:t>The system asks a few simple questions to generate moodboards and style recommendations.</a:t>
            </a:r>
          </a:p>
        </p:txBody>
      </p:sp>
      <p:sp>
        <p:nvSpPr>
          <p:cNvPr id="23" name="Rectangle 22"/>
          <p:cNvSpPr/>
          <p:nvPr/>
        </p:nvSpPr>
        <p:spPr>
          <a:xfrm>
            <a:off x="384048" y="4690872"/>
            <a:ext cx="11430000" cy="896112"/>
          </a:xfrm>
          <a:prstGeom prst="rect">
            <a:avLst/>
          </a:prstGeom>
          <a:solidFill>
            <a:srgbClr val="F4F8FB"/>
          </a:solidFill>
          <a:ln>
            <a:noFill/>
          </a:ln>
          <a:effectLst/>
        </p:spPr>
        <p:txBody>
          <a:bodyPr rtlCol="0" anchor="ctr"/>
          <a:lstStyle/>
          <a:p>
            <a:pPr algn="ctr"/>
            <a:endParaRPr/>
          </a:p>
        </p:txBody>
      </p:sp>
      <p:sp>
        <p:nvSpPr>
          <p:cNvPr id="24" name="Rectangle 23"/>
          <p:cNvSpPr/>
          <p:nvPr/>
        </p:nvSpPr>
        <p:spPr>
          <a:xfrm>
            <a:off x="384048" y="4690872"/>
            <a:ext cx="36576" cy="896112"/>
          </a:xfrm>
          <a:prstGeom prst="rect">
            <a:avLst/>
          </a:prstGeom>
          <a:solidFill>
            <a:srgbClr val="82C2DD"/>
          </a:solidFill>
          <a:ln>
            <a:noFill/>
          </a:ln>
          <a:effectLst/>
        </p:spPr>
        <p:txBody>
          <a:bodyPr rtlCol="0" anchor="ctr"/>
          <a:lstStyle/>
          <a:p>
            <a:pPr algn="ctr"/>
            <a:endParaRPr/>
          </a:p>
        </p:txBody>
      </p:sp>
      <p:sp>
        <p:nvSpPr>
          <p:cNvPr id="25" name="TextBox 24"/>
          <p:cNvSpPr txBox="1"/>
          <p:nvPr/>
        </p:nvSpPr>
        <p:spPr>
          <a:xfrm>
            <a:off x="585216" y="4956048"/>
            <a:ext cx="502920" cy="365760"/>
          </a:xfrm>
          <a:prstGeom prst="rect">
            <a:avLst/>
          </a:prstGeom>
          <a:noFill/>
        </p:spPr>
        <p:txBody>
          <a:bodyPr wrap="square" lIns="0" tIns="0" rIns="0" bIns="0" anchor="t">
            <a:spAutoFit/>
          </a:bodyPr>
          <a:lstStyle/>
          <a:p>
            <a:pPr algn="l">
              <a:spcBef>
                <a:spcPts val="0"/>
              </a:spcBef>
              <a:spcAft>
                <a:spcPts val="0"/>
              </a:spcAft>
            </a:pPr>
            <a:r>
              <a:rPr sz="2000" b="1">
                <a:solidFill>
                  <a:srgbClr val="82C2DD"/>
                </a:solidFill>
                <a:latin typeface="Calibri"/>
              </a:rPr>
              <a:t>04</a:t>
            </a:r>
          </a:p>
        </p:txBody>
      </p:sp>
      <p:sp>
        <p:nvSpPr>
          <p:cNvPr id="26" name="TextBox 25"/>
          <p:cNvSpPr txBox="1"/>
          <p:nvPr/>
        </p:nvSpPr>
        <p:spPr>
          <a:xfrm>
            <a:off x="1170432" y="4928616"/>
            <a:ext cx="3291840" cy="457200"/>
          </a:xfrm>
          <a:prstGeom prst="rect">
            <a:avLst/>
          </a:prstGeom>
          <a:noFill/>
        </p:spPr>
        <p:txBody>
          <a:bodyPr wrap="square" lIns="0" tIns="0" rIns="0" bIns="0" anchor="t">
            <a:spAutoFit/>
          </a:bodyPr>
          <a:lstStyle/>
          <a:p>
            <a:pPr algn="l">
              <a:spcBef>
                <a:spcPts val="0"/>
              </a:spcBef>
              <a:spcAft>
                <a:spcPts val="100"/>
              </a:spcAft>
            </a:pPr>
            <a:r>
              <a:rPr sz="1250" b="1">
                <a:solidFill>
                  <a:srgbClr val="233E67"/>
                </a:solidFill>
                <a:latin typeface="Calibri"/>
              </a:rPr>
              <a:t>Direct conversion</a:t>
            </a:r>
          </a:p>
          <a:p>
            <a:pPr algn="l">
              <a:spcBef>
                <a:spcPts val="0"/>
              </a:spcBef>
              <a:spcAft>
                <a:spcPts val="0"/>
              </a:spcAft>
            </a:pPr>
            <a:r>
              <a:rPr sz="900" b="0">
                <a:solidFill>
                  <a:srgbClr val="7A8CA6"/>
                </a:solidFill>
                <a:latin typeface="Calibri"/>
              </a:rPr>
              <a:t>Checkout</a:t>
            </a:r>
          </a:p>
        </p:txBody>
      </p:sp>
      <p:sp>
        <p:nvSpPr>
          <p:cNvPr id="27" name="TextBox 26"/>
          <p:cNvSpPr txBox="1"/>
          <p:nvPr/>
        </p:nvSpPr>
        <p:spPr>
          <a:xfrm>
            <a:off x="4663440" y="4965192"/>
            <a:ext cx="6903720" cy="365760"/>
          </a:xfrm>
          <a:prstGeom prst="rect">
            <a:avLst/>
          </a:prstGeom>
          <a:noFill/>
        </p:spPr>
        <p:txBody>
          <a:bodyPr wrap="square" lIns="0" tIns="0" rIns="0" bIns="0" anchor="t">
            <a:spAutoFit/>
          </a:bodyPr>
          <a:lstStyle/>
          <a:p>
            <a:pPr algn="l">
              <a:spcBef>
                <a:spcPts val="0"/>
              </a:spcBef>
              <a:spcAft>
                <a:spcPts val="0"/>
              </a:spcAft>
            </a:pPr>
            <a:r>
              <a:rPr sz="1050" b="0">
                <a:solidFill>
                  <a:srgbClr val="4A5E80"/>
                </a:solidFill>
                <a:latin typeface="Calibri"/>
              </a:rPr>
              <a:t>It connects the experience to the shopping cart by redirecting to the official store.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l_watermark.png"/>
          <p:cNvPicPr>
            <a:picLocks noChangeAspect="1"/>
          </p:cNvPicPr>
          <p:nvPr/>
        </p:nvPicPr>
        <p:blipFill>
          <a:blip r:embed="rId2"/>
          <a:stretch>
            <a:fillRect/>
          </a:stretch>
        </p:blipFill>
        <p:spPr>
          <a:xfrm>
            <a:off x="0" y="5724144"/>
            <a:ext cx="1517904" cy="1133856"/>
          </a:xfrm>
          <a:prstGeom prst="rect">
            <a:avLst/>
          </a:prstGeom>
        </p:spPr>
      </p:pic>
      <p:pic>
        <p:nvPicPr>
          <p:cNvPr id="3" name="Picture 2" descr="ll_145anos.png"/>
          <p:cNvPicPr>
            <a:picLocks noChangeAspect="1"/>
          </p:cNvPicPr>
          <p:nvPr/>
        </p:nvPicPr>
        <p:blipFill>
          <a:blip r:embed="rId3"/>
          <a:stretch>
            <a:fillRect/>
          </a:stretch>
        </p:blipFill>
        <p:spPr>
          <a:xfrm>
            <a:off x="0" y="6135624"/>
            <a:ext cx="1325880" cy="722376"/>
          </a:xfrm>
          <a:prstGeom prst="rect">
            <a:avLst/>
          </a:prstGeom>
        </p:spPr>
      </p:pic>
      <p:pic>
        <p:nvPicPr>
          <p:cNvPr id="4" name="Picture 3" descr="corona_mark.png"/>
          <p:cNvPicPr>
            <a:picLocks noChangeAspect="1"/>
          </p:cNvPicPr>
          <p:nvPr/>
        </p:nvPicPr>
        <p:blipFill>
          <a:blip r:embed="rId4"/>
          <a:stretch>
            <a:fillRect/>
          </a:stretch>
        </p:blipFill>
        <p:spPr>
          <a:xfrm>
            <a:off x="10780776" y="6336792"/>
            <a:ext cx="1060704" cy="155448"/>
          </a:xfrm>
          <a:prstGeom prst="rect">
            <a:avLst/>
          </a:prstGeom>
        </p:spPr>
      </p:pic>
      <p:sp>
        <p:nvSpPr>
          <p:cNvPr id="5" name="TextBox 4"/>
          <p:cNvSpPr txBox="1"/>
          <p:nvPr/>
        </p:nvSpPr>
        <p:spPr>
          <a:xfrm>
            <a:off x="338328" y="384048"/>
            <a:ext cx="8778240" cy="402336"/>
          </a:xfrm>
          <a:prstGeom prst="rect">
            <a:avLst/>
          </a:prstGeom>
          <a:noFill/>
        </p:spPr>
        <p:txBody>
          <a:bodyPr wrap="square" lIns="0" tIns="0" rIns="0" bIns="0" anchor="t">
            <a:spAutoFit/>
          </a:bodyPr>
          <a:lstStyle/>
          <a:p>
            <a:pPr algn="l">
              <a:spcBef>
                <a:spcPts val="0"/>
              </a:spcBef>
              <a:spcAft>
                <a:spcPts val="0"/>
              </a:spcAft>
            </a:pPr>
            <a:r>
              <a:rPr sz="2400" b="1">
                <a:solidFill>
                  <a:srgbClr val="82C2DD"/>
                </a:solidFill>
                <a:latin typeface="Calibri"/>
              </a:rPr>
              <a:t>Visual Search &amp; Recommendation</a:t>
            </a:r>
          </a:p>
        </p:txBody>
      </p:sp>
      <p:sp>
        <p:nvSpPr>
          <p:cNvPr id="6" name="TextBox 5"/>
          <p:cNvSpPr txBox="1"/>
          <p:nvPr/>
        </p:nvSpPr>
        <p:spPr>
          <a:xfrm>
            <a:off x="338328" y="804672"/>
            <a:ext cx="9509760" cy="457200"/>
          </a:xfrm>
          <a:prstGeom prst="rect">
            <a:avLst/>
          </a:prstGeom>
          <a:noFill/>
        </p:spPr>
        <p:txBody>
          <a:bodyPr wrap="square" lIns="0" tIns="0" rIns="0" bIns="0" anchor="t">
            <a:spAutoFit/>
          </a:bodyPr>
          <a:lstStyle/>
          <a:p>
            <a:pPr algn="l">
              <a:spcBef>
                <a:spcPts val="0"/>
              </a:spcBef>
              <a:spcAft>
                <a:spcPts val="0"/>
              </a:spcAft>
            </a:pPr>
            <a:r>
              <a:rPr sz="2000" b="1">
                <a:solidFill>
                  <a:srgbClr val="233E67"/>
                </a:solidFill>
                <a:latin typeface="Calibri"/>
              </a:rPr>
              <a:t>Key features required</a:t>
            </a:r>
          </a:p>
        </p:txBody>
      </p:sp>
      <p:sp>
        <p:nvSpPr>
          <p:cNvPr id="7" name="TextBox 6"/>
          <p:cNvSpPr txBox="1"/>
          <p:nvPr/>
        </p:nvSpPr>
        <p:spPr>
          <a:xfrm>
            <a:off x="365760" y="1316736"/>
            <a:ext cx="11430000" cy="219456"/>
          </a:xfrm>
          <a:prstGeom prst="rect">
            <a:avLst/>
          </a:prstGeom>
          <a:noFill/>
        </p:spPr>
        <p:txBody>
          <a:bodyPr wrap="square" lIns="0" tIns="0" rIns="0" bIns="0" anchor="t">
            <a:spAutoFit/>
          </a:bodyPr>
          <a:lstStyle/>
          <a:p>
            <a:pPr algn="l">
              <a:spcBef>
                <a:spcPts val="0"/>
              </a:spcBef>
              <a:spcAft>
                <a:spcPts val="0"/>
              </a:spcAft>
            </a:pPr>
            <a:r>
              <a:rPr sz="950" b="1">
                <a:solidFill>
                  <a:srgbClr val="7A8CA6"/>
                </a:solidFill>
                <a:latin typeface="Calibri"/>
              </a:rPr>
              <a:t>Scope: </a:t>
            </a:r>
            <a:r>
              <a:rPr sz="950" b="0">
                <a:solidFill>
                  <a:srgbClr val="4A5E80"/>
                </a:solidFill>
                <a:latin typeface="Calibri"/>
              </a:rPr>
              <a:t>3 automated capabilities</a:t>
            </a:r>
            <a:r>
              <a:rPr sz="950" b="0">
                <a:solidFill>
                  <a:srgbClr val="C6D2DF"/>
                </a:solidFill>
                <a:latin typeface="Calibri"/>
              </a:rPr>
              <a:t>     |     </a:t>
            </a:r>
            <a:r>
              <a:rPr sz="950" b="1">
                <a:solidFill>
                  <a:srgbClr val="7A8CA6"/>
                </a:solidFill>
                <a:latin typeface="Calibri"/>
              </a:rPr>
              <a:t>Delivery: </a:t>
            </a:r>
            <a:r>
              <a:rPr sz="950" b="0">
                <a:solidFill>
                  <a:srgbClr val="4A5E80"/>
                </a:solidFill>
                <a:latin typeface="Calibri"/>
              </a:rPr>
              <a:t>Working prototype on a single URL</a:t>
            </a:r>
          </a:p>
        </p:txBody>
      </p:sp>
      <p:sp>
        <p:nvSpPr>
          <p:cNvPr id="8" name="Rectangle 7"/>
          <p:cNvSpPr/>
          <p:nvPr/>
        </p:nvSpPr>
        <p:spPr>
          <a:xfrm>
            <a:off x="384048" y="1755648"/>
            <a:ext cx="3749039" cy="256032"/>
          </a:xfrm>
          <a:prstGeom prst="rect">
            <a:avLst/>
          </a:prstGeom>
          <a:solidFill>
            <a:srgbClr val="ECF4F9"/>
          </a:solidFill>
          <a:ln>
            <a:noFill/>
          </a:ln>
          <a:effectLst/>
        </p:spPr>
        <p:txBody>
          <a:bodyPr rtlCol="0" anchor="ctr"/>
          <a:lstStyle/>
          <a:p>
            <a:pPr algn="ctr"/>
            <a:endParaRPr/>
          </a:p>
        </p:txBody>
      </p:sp>
      <p:sp>
        <p:nvSpPr>
          <p:cNvPr id="9" name="TextBox 8"/>
          <p:cNvSpPr txBox="1"/>
          <p:nvPr/>
        </p:nvSpPr>
        <p:spPr>
          <a:xfrm>
            <a:off x="384048" y="1755648"/>
            <a:ext cx="3749039" cy="256032"/>
          </a:xfrm>
          <a:prstGeom prst="rect">
            <a:avLst/>
          </a:prstGeom>
          <a:noFill/>
        </p:spPr>
        <p:txBody>
          <a:bodyPr wrap="square" lIns="0" tIns="0" rIns="0" bIns="0" anchor="ctr">
            <a:spAutoFit/>
          </a:bodyPr>
          <a:lstStyle/>
          <a:p>
            <a:pPr algn="ctr">
              <a:spcBef>
                <a:spcPts val="0"/>
              </a:spcBef>
              <a:spcAft>
                <a:spcPts val="0"/>
              </a:spcAft>
            </a:pPr>
            <a:r>
              <a:rPr sz="850" b="1">
                <a:solidFill>
                  <a:srgbClr val="233E67"/>
                </a:solidFill>
                <a:latin typeface="Calibri"/>
              </a:rPr>
              <a:t>SCOPE IN — 3 AUTOMATED FEATURES</a:t>
            </a:r>
          </a:p>
        </p:txBody>
      </p:sp>
      <p:sp>
        <p:nvSpPr>
          <p:cNvPr id="10" name="Rectangle 9"/>
          <p:cNvSpPr/>
          <p:nvPr/>
        </p:nvSpPr>
        <p:spPr>
          <a:xfrm>
            <a:off x="384048" y="2249424"/>
            <a:ext cx="3685032" cy="1737360"/>
          </a:xfrm>
          <a:prstGeom prst="rect">
            <a:avLst/>
          </a:prstGeom>
          <a:solidFill>
            <a:srgbClr val="F4F8FB"/>
          </a:solidFill>
          <a:ln>
            <a:noFill/>
          </a:ln>
          <a:effectLst/>
        </p:spPr>
        <p:txBody>
          <a:bodyPr rtlCol="0" anchor="ctr"/>
          <a:lstStyle/>
          <a:p>
            <a:pPr algn="ctr"/>
            <a:endParaRPr/>
          </a:p>
        </p:txBody>
      </p:sp>
      <p:sp>
        <p:nvSpPr>
          <p:cNvPr id="11" name="Rectangle 10"/>
          <p:cNvSpPr/>
          <p:nvPr/>
        </p:nvSpPr>
        <p:spPr>
          <a:xfrm>
            <a:off x="384048" y="2249424"/>
            <a:ext cx="36576" cy="1737360"/>
          </a:xfrm>
          <a:prstGeom prst="rect">
            <a:avLst/>
          </a:prstGeom>
          <a:solidFill>
            <a:srgbClr val="82C2DD"/>
          </a:solidFill>
          <a:ln>
            <a:noFill/>
          </a:ln>
          <a:effectLst/>
        </p:spPr>
        <p:txBody>
          <a:bodyPr rtlCol="0" anchor="ctr"/>
          <a:lstStyle/>
          <a:p>
            <a:pPr algn="ctr"/>
            <a:endParaRPr/>
          </a:p>
        </p:txBody>
      </p:sp>
      <p:sp>
        <p:nvSpPr>
          <p:cNvPr id="12" name="TextBox 11"/>
          <p:cNvSpPr txBox="1"/>
          <p:nvPr/>
        </p:nvSpPr>
        <p:spPr>
          <a:xfrm>
            <a:off x="603503" y="2414016"/>
            <a:ext cx="3246120" cy="1463040"/>
          </a:xfrm>
          <a:prstGeom prst="rect">
            <a:avLst/>
          </a:prstGeom>
          <a:noFill/>
        </p:spPr>
        <p:txBody>
          <a:bodyPr wrap="square" lIns="0" tIns="0" rIns="0" bIns="0" anchor="t">
            <a:spAutoFit/>
          </a:bodyPr>
          <a:lstStyle/>
          <a:p>
            <a:pPr algn="l">
              <a:spcBef>
                <a:spcPts val="0"/>
              </a:spcBef>
              <a:spcAft>
                <a:spcPts val="300"/>
              </a:spcAft>
            </a:pPr>
            <a:r>
              <a:rPr sz="1300" b="1">
                <a:solidFill>
                  <a:srgbClr val="82C2DD"/>
                </a:solidFill>
                <a:latin typeface="Calibri"/>
              </a:rPr>
              <a:t>01</a:t>
            </a:r>
          </a:p>
          <a:p>
            <a:pPr algn="l">
              <a:spcBef>
                <a:spcPts val="0"/>
              </a:spcBef>
              <a:spcAft>
                <a:spcPts val="600"/>
              </a:spcAft>
            </a:pPr>
            <a:r>
              <a:rPr sz="1250" b="1">
                <a:solidFill>
                  <a:srgbClr val="233E67"/>
                </a:solidFill>
                <a:latin typeface="Calibri"/>
              </a:rPr>
              <a:t>Visual &amp; multimodal search</a:t>
            </a:r>
          </a:p>
          <a:p>
            <a:pPr algn="l">
              <a:lnSpc>
                <a:spcPct val="112000"/>
              </a:lnSpc>
              <a:spcBef>
                <a:spcPts val="0"/>
              </a:spcBef>
              <a:spcAft>
                <a:spcPts val="0"/>
              </a:spcAft>
            </a:pPr>
            <a:r>
              <a:rPr sz="1100" b="0">
                <a:solidFill>
                  <a:srgbClr val="4A5E80"/>
                </a:solidFill>
                <a:latin typeface="Calibri"/>
              </a:rPr>
              <a:t>The main engine. It processes photos uploaded by the user, reference images or keywords to find exact catalogue products and generate moodboards.</a:t>
            </a:r>
          </a:p>
        </p:txBody>
      </p:sp>
      <p:sp>
        <p:nvSpPr>
          <p:cNvPr id="13" name="Rectangle 12"/>
          <p:cNvSpPr/>
          <p:nvPr/>
        </p:nvSpPr>
        <p:spPr>
          <a:xfrm>
            <a:off x="4256532" y="2249424"/>
            <a:ext cx="3685032" cy="1737360"/>
          </a:xfrm>
          <a:prstGeom prst="rect">
            <a:avLst/>
          </a:prstGeom>
          <a:solidFill>
            <a:srgbClr val="F4F8FB"/>
          </a:solidFill>
          <a:ln>
            <a:noFill/>
          </a:ln>
          <a:effectLst/>
        </p:spPr>
        <p:txBody>
          <a:bodyPr rtlCol="0" anchor="ctr"/>
          <a:lstStyle/>
          <a:p>
            <a:pPr algn="ctr"/>
            <a:endParaRPr/>
          </a:p>
        </p:txBody>
      </p:sp>
      <p:sp>
        <p:nvSpPr>
          <p:cNvPr id="14" name="Rectangle 13"/>
          <p:cNvSpPr/>
          <p:nvPr/>
        </p:nvSpPr>
        <p:spPr>
          <a:xfrm>
            <a:off x="4256532" y="2249424"/>
            <a:ext cx="36576" cy="1737360"/>
          </a:xfrm>
          <a:prstGeom prst="rect">
            <a:avLst/>
          </a:prstGeom>
          <a:solidFill>
            <a:srgbClr val="82C2DD"/>
          </a:solidFill>
          <a:ln>
            <a:noFill/>
          </a:ln>
          <a:effectLst/>
        </p:spPr>
        <p:txBody>
          <a:bodyPr rtlCol="0" anchor="ctr"/>
          <a:lstStyle/>
          <a:p>
            <a:pPr algn="ctr"/>
            <a:endParaRPr/>
          </a:p>
        </p:txBody>
      </p:sp>
      <p:sp>
        <p:nvSpPr>
          <p:cNvPr id="15" name="TextBox 14"/>
          <p:cNvSpPr txBox="1"/>
          <p:nvPr/>
        </p:nvSpPr>
        <p:spPr>
          <a:xfrm>
            <a:off x="4475988" y="2414016"/>
            <a:ext cx="3246120" cy="1463040"/>
          </a:xfrm>
          <a:prstGeom prst="rect">
            <a:avLst/>
          </a:prstGeom>
          <a:noFill/>
        </p:spPr>
        <p:txBody>
          <a:bodyPr wrap="square" lIns="0" tIns="0" rIns="0" bIns="0" anchor="t">
            <a:spAutoFit/>
          </a:bodyPr>
          <a:lstStyle/>
          <a:p>
            <a:pPr algn="l">
              <a:spcBef>
                <a:spcPts val="0"/>
              </a:spcBef>
              <a:spcAft>
                <a:spcPts val="300"/>
              </a:spcAft>
            </a:pPr>
            <a:r>
              <a:rPr sz="1300" b="1">
                <a:solidFill>
                  <a:srgbClr val="82C2DD"/>
                </a:solidFill>
                <a:latin typeface="Calibri"/>
              </a:rPr>
              <a:t>02</a:t>
            </a:r>
          </a:p>
          <a:p>
            <a:pPr algn="l">
              <a:spcBef>
                <a:spcPts val="0"/>
              </a:spcBef>
              <a:spcAft>
                <a:spcPts val="600"/>
              </a:spcAft>
            </a:pPr>
            <a:r>
              <a:rPr sz="1250" b="1">
                <a:solidFill>
                  <a:srgbClr val="233E67"/>
                </a:solidFill>
                <a:latin typeface="Calibri"/>
              </a:rPr>
              <a:t>Style diagnosis</a:t>
            </a:r>
          </a:p>
          <a:p>
            <a:pPr algn="l">
              <a:lnSpc>
                <a:spcPct val="112000"/>
              </a:lnSpc>
              <a:spcBef>
                <a:spcPts val="0"/>
              </a:spcBef>
              <a:spcAft>
                <a:spcPts val="0"/>
              </a:spcAft>
            </a:pPr>
            <a:r>
              <a:rPr sz="1100" b="0">
                <a:solidFill>
                  <a:srgbClr val="4A5E80"/>
                </a:solidFill>
                <a:latin typeface="Calibri"/>
              </a:rPr>
              <a:t>Through a short brief or quick questionnaire, it turns the search into a visual space-redesign experience and generates moodboards.</a:t>
            </a:r>
          </a:p>
        </p:txBody>
      </p:sp>
      <p:sp>
        <p:nvSpPr>
          <p:cNvPr id="16" name="Rectangle 15"/>
          <p:cNvSpPr/>
          <p:nvPr/>
        </p:nvSpPr>
        <p:spPr>
          <a:xfrm>
            <a:off x="8129016" y="2249424"/>
            <a:ext cx="3685032" cy="1737360"/>
          </a:xfrm>
          <a:prstGeom prst="rect">
            <a:avLst/>
          </a:prstGeom>
          <a:solidFill>
            <a:srgbClr val="F4F8FB"/>
          </a:solidFill>
          <a:ln>
            <a:noFill/>
          </a:ln>
          <a:effectLst/>
        </p:spPr>
        <p:txBody>
          <a:bodyPr rtlCol="0" anchor="ctr"/>
          <a:lstStyle/>
          <a:p>
            <a:pPr algn="ctr"/>
            <a:endParaRPr/>
          </a:p>
        </p:txBody>
      </p:sp>
      <p:sp>
        <p:nvSpPr>
          <p:cNvPr id="17" name="Rectangle 16"/>
          <p:cNvSpPr/>
          <p:nvPr/>
        </p:nvSpPr>
        <p:spPr>
          <a:xfrm>
            <a:off x="8129016" y="2249424"/>
            <a:ext cx="36576" cy="1737360"/>
          </a:xfrm>
          <a:prstGeom prst="rect">
            <a:avLst/>
          </a:prstGeom>
          <a:solidFill>
            <a:srgbClr val="82C2DD"/>
          </a:solidFill>
          <a:ln>
            <a:noFill/>
          </a:ln>
          <a:effectLst/>
        </p:spPr>
        <p:txBody>
          <a:bodyPr rtlCol="0" anchor="ctr"/>
          <a:lstStyle/>
          <a:p>
            <a:pPr algn="ctr"/>
            <a:endParaRPr/>
          </a:p>
        </p:txBody>
      </p:sp>
      <p:sp>
        <p:nvSpPr>
          <p:cNvPr id="18" name="TextBox 17"/>
          <p:cNvSpPr txBox="1"/>
          <p:nvPr/>
        </p:nvSpPr>
        <p:spPr>
          <a:xfrm>
            <a:off x="8348472" y="2414016"/>
            <a:ext cx="3246120" cy="1463040"/>
          </a:xfrm>
          <a:prstGeom prst="rect">
            <a:avLst/>
          </a:prstGeom>
          <a:noFill/>
        </p:spPr>
        <p:txBody>
          <a:bodyPr wrap="square" lIns="0" tIns="0" rIns="0" bIns="0" anchor="t">
            <a:spAutoFit/>
          </a:bodyPr>
          <a:lstStyle/>
          <a:p>
            <a:pPr algn="l">
              <a:spcBef>
                <a:spcPts val="0"/>
              </a:spcBef>
              <a:spcAft>
                <a:spcPts val="300"/>
              </a:spcAft>
            </a:pPr>
            <a:r>
              <a:rPr sz="1300" b="1">
                <a:solidFill>
                  <a:srgbClr val="82C2DD"/>
                </a:solidFill>
                <a:latin typeface="Calibri"/>
              </a:rPr>
              <a:t>03</a:t>
            </a:r>
          </a:p>
          <a:p>
            <a:pPr algn="l">
              <a:spcBef>
                <a:spcPts val="0"/>
              </a:spcBef>
              <a:spcAft>
                <a:spcPts val="600"/>
              </a:spcAft>
            </a:pPr>
            <a:r>
              <a:rPr sz="1250" b="1">
                <a:solidFill>
                  <a:srgbClr val="233E67"/>
                </a:solidFill>
                <a:latin typeface="Calibri"/>
              </a:rPr>
              <a:t>Integrated checkout</a:t>
            </a:r>
          </a:p>
          <a:p>
            <a:pPr algn="l">
              <a:lnSpc>
                <a:spcPct val="112000"/>
              </a:lnSpc>
              <a:spcBef>
                <a:spcPts val="0"/>
              </a:spcBef>
              <a:spcAft>
                <a:spcPts val="0"/>
              </a:spcAft>
            </a:pPr>
            <a:r>
              <a:rPr sz="1100" b="0">
                <a:solidFill>
                  <a:srgbClr val="4A5E80"/>
                </a:solidFill>
                <a:latin typeface="Calibri"/>
              </a:rPr>
              <a:t>The result of the inspiration connects directly with the purchase, taking the user to the real product detail page (PDP) with no barriers.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l_watermark.png"/>
          <p:cNvPicPr>
            <a:picLocks noChangeAspect="1"/>
          </p:cNvPicPr>
          <p:nvPr/>
        </p:nvPicPr>
        <p:blipFill>
          <a:blip r:embed="rId2"/>
          <a:stretch>
            <a:fillRect/>
          </a:stretch>
        </p:blipFill>
        <p:spPr>
          <a:xfrm>
            <a:off x="0" y="5724144"/>
            <a:ext cx="1517904" cy="1133856"/>
          </a:xfrm>
          <a:prstGeom prst="rect">
            <a:avLst/>
          </a:prstGeom>
        </p:spPr>
      </p:pic>
      <p:pic>
        <p:nvPicPr>
          <p:cNvPr id="3" name="Picture 2" descr="ll_145anos.png"/>
          <p:cNvPicPr>
            <a:picLocks noChangeAspect="1"/>
          </p:cNvPicPr>
          <p:nvPr/>
        </p:nvPicPr>
        <p:blipFill>
          <a:blip r:embed="rId3"/>
          <a:stretch>
            <a:fillRect/>
          </a:stretch>
        </p:blipFill>
        <p:spPr>
          <a:xfrm>
            <a:off x="0" y="6135624"/>
            <a:ext cx="1325880" cy="722376"/>
          </a:xfrm>
          <a:prstGeom prst="rect">
            <a:avLst/>
          </a:prstGeom>
        </p:spPr>
      </p:pic>
      <p:pic>
        <p:nvPicPr>
          <p:cNvPr id="4" name="Picture 3" descr="corona_mark.png"/>
          <p:cNvPicPr>
            <a:picLocks noChangeAspect="1"/>
          </p:cNvPicPr>
          <p:nvPr/>
        </p:nvPicPr>
        <p:blipFill>
          <a:blip r:embed="rId4"/>
          <a:stretch>
            <a:fillRect/>
          </a:stretch>
        </p:blipFill>
        <p:spPr>
          <a:xfrm>
            <a:off x="10780776" y="6336792"/>
            <a:ext cx="1060704" cy="155448"/>
          </a:xfrm>
          <a:prstGeom prst="rect">
            <a:avLst/>
          </a:prstGeom>
        </p:spPr>
      </p:pic>
      <p:sp>
        <p:nvSpPr>
          <p:cNvPr id="5" name="TextBox 4"/>
          <p:cNvSpPr txBox="1"/>
          <p:nvPr/>
        </p:nvSpPr>
        <p:spPr>
          <a:xfrm>
            <a:off x="338328" y="384048"/>
            <a:ext cx="8778240" cy="402336"/>
          </a:xfrm>
          <a:prstGeom prst="rect">
            <a:avLst/>
          </a:prstGeom>
          <a:noFill/>
        </p:spPr>
        <p:txBody>
          <a:bodyPr wrap="square" lIns="0" tIns="0" rIns="0" bIns="0" anchor="t">
            <a:spAutoFit/>
          </a:bodyPr>
          <a:lstStyle/>
          <a:p>
            <a:pPr algn="l">
              <a:spcBef>
                <a:spcPts val="0"/>
              </a:spcBef>
              <a:spcAft>
                <a:spcPts val="0"/>
              </a:spcAft>
            </a:pPr>
            <a:r>
              <a:rPr sz="2400" b="1">
                <a:solidFill>
                  <a:srgbClr val="82C2DD"/>
                </a:solidFill>
                <a:latin typeface="Calibri"/>
              </a:rPr>
              <a:t>Visual Search &amp; Recommendation</a:t>
            </a:r>
          </a:p>
        </p:txBody>
      </p:sp>
      <p:sp>
        <p:nvSpPr>
          <p:cNvPr id="6" name="TextBox 5"/>
          <p:cNvSpPr txBox="1"/>
          <p:nvPr/>
        </p:nvSpPr>
        <p:spPr>
          <a:xfrm>
            <a:off x="338328" y="804672"/>
            <a:ext cx="9509760" cy="457200"/>
          </a:xfrm>
          <a:prstGeom prst="rect">
            <a:avLst/>
          </a:prstGeom>
          <a:noFill/>
        </p:spPr>
        <p:txBody>
          <a:bodyPr wrap="square" lIns="0" tIns="0" rIns="0" bIns="0" anchor="t">
            <a:spAutoFit/>
          </a:bodyPr>
          <a:lstStyle/>
          <a:p>
            <a:pPr algn="l">
              <a:spcBef>
                <a:spcPts val="0"/>
              </a:spcBef>
              <a:spcAft>
                <a:spcPts val="0"/>
              </a:spcAft>
            </a:pPr>
            <a:r>
              <a:rPr sz="2000" b="1">
                <a:solidFill>
                  <a:srgbClr val="233E67"/>
                </a:solidFill>
                <a:latin typeface="Calibri"/>
              </a:rPr>
              <a:t>Technical architecture of the prototype</a:t>
            </a:r>
          </a:p>
        </p:txBody>
      </p:sp>
      <p:sp>
        <p:nvSpPr>
          <p:cNvPr id="7" name="TextBox 6"/>
          <p:cNvSpPr txBox="1"/>
          <p:nvPr/>
        </p:nvSpPr>
        <p:spPr>
          <a:xfrm>
            <a:off x="365760" y="1316736"/>
            <a:ext cx="11430000" cy="219456"/>
          </a:xfrm>
          <a:prstGeom prst="rect">
            <a:avLst/>
          </a:prstGeom>
          <a:noFill/>
        </p:spPr>
        <p:txBody>
          <a:bodyPr wrap="square" lIns="0" tIns="0" rIns="0" bIns="0" anchor="t">
            <a:spAutoFit/>
          </a:bodyPr>
          <a:lstStyle/>
          <a:p>
            <a:pPr algn="l">
              <a:spcBef>
                <a:spcPts val="0"/>
              </a:spcBef>
              <a:spcAft>
                <a:spcPts val="0"/>
              </a:spcAft>
            </a:pPr>
            <a:r>
              <a:rPr sz="950" b="1">
                <a:solidFill>
                  <a:srgbClr val="7A8CA6"/>
                </a:solidFill>
                <a:latin typeface="Calibri"/>
              </a:rPr>
              <a:t>Approach: </a:t>
            </a:r>
            <a:r>
              <a:rPr sz="950" b="0">
                <a:solidFill>
                  <a:srgbClr val="4A5E80"/>
                </a:solidFill>
                <a:latin typeface="Calibri"/>
              </a:rPr>
              <a:t>Fast validation</a:t>
            </a:r>
            <a:r>
              <a:rPr sz="950" b="0">
                <a:solidFill>
                  <a:srgbClr val="C6D2DF"/>
                </a:solidFill>
                <a:latin typeface="Calibri"/>
              </a:rPr>
              <a:t>     |     </a:t>
            </a:r>
            <a:r>
              <a:rPr sz="950" b="1">
                <a:solidFill>
                  <a:srgbClr val="7A8CA6"/>
                </a:solidFill>
                <a:latin typeface="Calibri"/>
              </a:rPr>
              <a:t>Constraint: </a:t>
            </a:r>
            <a:r>
              <a:rPr sz="950" b="0">
                <a:solidFill>
                  <a:srgbClr val="4A5E80"/>
                </a:solidFill>
                <a:latin typeface="Calibri"/>
              </a:rPr>
              <a:t>No integration with the store core</a:t>
            </a:r>
            <a:r>
              <a:rPr sz="950" b="0">
                <a:solidFill>
                  <a:srgbClr val="C6D2DF"/>
                </a:solidFill>
                <a:latin typeface="Calibri"/>
              </a:rPr>
              <a:t>     |     </a:t>
            </a:r>
            <a:r>
              <a:rPr sz="950" b="1">
                <a:solidFill>
                  <a:srgbClr val="7A8CA6"/>
                </a:solidFill>
                <a:latin typeface="Calibri"/>
              </a:rPr>
              <a:t>Budget: </a:t>
            </a:r>
            <a:r>
              <a:rPr sz="950" b="0">
                <a:solidFill>
                  <a:srgbClr val="4A5E80"/>
                </a:solidFill>
                <a:latin typeface="Calibri"/>
              </a:rPr>
              <a:t>USD 40 in API credit</a:t>
            </a:r>
          </a:p>
        </p:txBody>
      </p:sp>
      <p:pic>
        <p:nvPicPr>
          <p:cNvPr id="8" name="Picture 7" descr="ill_arch.png"/>
          <p:cNvPicPr>
            <a:picLocks noChangeAspect="1"/>
          </p:cNvPicPr>
          <p:nvPr/>
        </p:nvPicPr>
        <p:blipFill>
          <a:blip r:embed="rId5"/>
          <a:stretch>
            <a:fillRect/>
          </a:stretch>
        </p:blipFill>
        <p:spPr>
          <a:xfrm>
            <a:off x="8275320" y="1965960"/>
            <a:ext cx="3291840" cy="3291840"/>
          </a:xfrm>
          <a:prstGeom prst="rect">
            <a:avLst/>
          </a:prstGeom>
        </p:spPr>
      </p:pic>
      <p:sp>
        <p:nvSpPr>
          <p:cNvPr id="9" name="TextBox 8"/>
          <p:cNvSpPr txBox="1"/>
          <p:nvPr/>
        </p:nvSpPr>
        <p:spPr>
          <a:xfrm>
            <a:off x="7863840" y="5413248"/>
            <a:ext cx="4069080" cy="274320"/>
          </a:xfrm>
          <a:prstGeom prst="rect">
            <a:avLst/>
          </a:prstGeom>
          <a:noFill/>
        </p:spPr>
        <p:txBody>
          <a:bodyPr wrap="square" lIns="0" tIns="0" rIns="0" bIns="0" anchor="t">
            <a:spAutoFit/>
          </a:bodyPr>
          <a:lstStyle/>
          <a:p>
            <a:pPr algn="ctr">
              <a:spcBef>
                <a:spcPts val="0"/>
              </a:spcBef>
              <a:spcAft>
                <a:spcPts val="0"/>
              </a:spcAft>
            </a:pPr>
            <a:r>
              <a:rPr sz="850" b="0">
                <a:solidFill>
                  <a:srgbClr val="7A8CA6"/>
                </a:solidFill>
                <a:latin typeface="Calibri"/>
              </a:rPr>
              <a:t>Commercial AI APIs orchestrated from an external prototype environment</a:t>
            </a:r>
          </a:p>
        </p:txBody>
      </p:sp>
      <p:sp>
        <p:nvSpPr>
          <p:cNvPr id="10" name="Rectangle 9"/>
          <p:cNvSpPr/>
          <p:nvPr/>
        </p:nvSpPr>
        <p:spPr>
          <a:xfrm>
            <a:off x="384048" y="1700784"/>
            <a:ext cx="7406640" cy="1097280"/>
          </a:xfrm>
          <a:prstGeom prst="rect">
            <a:avLst/>
          </a:prstGeom>
          <a:solidFill>
            <a:srgbClr val="F4F8FB"/>
          </a:solidFill>
          <a:ln>
            <a:noFill/>
          </a:ln>
          <a:effectLst/>
        </p:spPr>
        <p:txBody>
          <a:bodyPr rtlCol="0" anchor="ctr"/>
          <a:lstStyle/>
          <a:p>
            <a:pPr algn="ctr"/>
            <a:endParaRPr/>
          </a:p>
        </p:txBody>
      </p:sp>
      <p:sp>
        <p:nvSpPr>
          <p:cNvPr id="11" name="Rectangle 10"/>
          <p:cNvSpPr/>
          <p:nvPr/>
        </p:nvSpPr>
        <p:spPr>
          <a:xfrm>
            <a:off x="384048" y="1700784"/>
            <a:ext cx="36576" cy="1097280"/>
          </a:xfrm>
          <a:prstGeom prst="rect">
            <a:avLst/>
          </a:prstGeom>
          <a:solidFill>
            <a:srgbClr val="82C2DD"/>
          </a:solidFill>
          <a:ln>
            <a:noFill/>
          </a:ln>
          <a:effectLst/>
        </p:spPr>
        <p:txBody>
          <a:bodyPr rtlCol="0" anchor="ctr"/>
          <a:lstStyle/>
          <a:p>
            <a:pPr algn="ctr"/>
            <a:endParaRPr/>
          </a:p>
        </p:txBody>
      </p:sp>
      <p:sp>
        <p:nvSpPr>
          <p:cNvPr id="12" name="TextBox 11"/>
          <p:cNvSpPr txBox="1"/>
          <p:nvPr/>
        </p:nvSpPr>
        <p:spPr>
          <a:xfrm>
            <a:off x="603504" y="1847088"/>
            <a:ext cx="6995160" cy="822959"/>
          </a:xfrm>
          <a:prstGeom prst="rect">
            <a:avLst/>
          </a:prstGeom>
          <a:noFill/>
        </p:spPr>
        <p:txBody>
          <a:bodyPr wrap="square" lIns="0" tIns="0" rIns="0" bIns="0" anchor="t">
            <a:spAutoFit/>
          </a:bodyPr>
          <a:lstStyle/>
          <a:p>
            <a:pPr algn="l">
              <a:spcBef>
                <a:spcPts val="0"/>
              </a:spcBef>
              <a:spcAft>
                <a:spcPts val="100"/>
              </a:spcAft>
            </a:pPr>
            <a:r>
              <a:rPr sz="950" b="1">
                <a:solidFill>
                  <a:srgbClr val="233E67"/>
                </a:solidFill>
                <a:latin typeface="Calibri"/>
              </a:rPr>
              <a:t>EXTERNAL OPERATION</a:t>
            </a:r>
          </a:p>
          <a:p>
            <a:pPr algn="l">
              <a:spcBef>
                <a:spcPts val="0"/>
              </a:spcBef>
              <a:spcAft>
                <a:spcPts val="500"/>
              </a:spcAft>
            </a:pPr>
            <a:r>
              <a:rPr sz="850" b="0">
                <a:solidFill>
                  <a:srgbClr val="7A8CA6"/>
                </a:solidFill>
                <a:latin typeface="Calibri"/>
              </a:rPr>
              <a:t>Where does it live?</a:t>
            </a:r>
          </a:p>
          <a:p>
            <a:pPr algn="l">
              <a:lnSpc>
                <a:spcPct val="110000"/>
              </a:lnSpc>
              <a:spcBef>
                <a:spcPts val="0"/>
              </a:spcBef>
              <a:spcAft>
                <a:spcPts val="0"/>
              </a:spcAft>
            </a:pPr>
            <a:r>
              <a:rPr sz="1100" b="0">
                <a:solidFill>
                  <a:srgbClr val="4A5E80"/>
                </a:solidFill>
                <a:latin typeface="Calibri"/>
              </a:rPr>
              <a:t>The prototype will not touch the source code, servers or transactional databases of vajillascorona.com.co. It will live in a local PoC environment.</a:t>
            </a:r>
          </a:p>
        </p:txBody>
      </p:sp>
      <p:sp>
        <p:nvSpPr>
          <p:cNvPr id="13" name="Rectangle 12"/>
          <p:cNvSpPr/>
          <p:nvPr/>
        </p:nvSpPr>
        <p:spPr>
          <a:xfrm>
            <a:off x="384048" y="2962656"/>
            <a:ext cx="7406640" cy="1417320"/>
          </a:xfrm>
          <a:prstGeom prst="rect">
            <a:avLst/>
          </a:prstGeom>
          <a:solidFill>
            <a:srgbClr val="F4F8FB"/>
          </a:solidFill>
          <a:ln>
            <a:noFill/>
          </a:ln>
          <a:effectLst/>
        </p:spPr>
        <p:txBody>
          <a:bodyPr rtlCol="0" anchor="ctr"/>
          <a:lstStyle/>
          <a:p>
            <a:pPr algn="ctr"/>
            <a:endParaRPr/>
          </a:p>
        </p:txBody>
      </p:sp>
      <p:sp>
        <p:nvSpPr>
          <p:cNvPr id="14" name="Rectangle 13"/>
          <p:cNvSpPr/>
          <p:nvPr/>
        </p:nvSpPr>
        <p:spPr>
          <a:xfrm>
            <a:off x="384048" y="2962656"/>
            <a:ext cx="36576" cy="1417320"/>
          </a:xfrm>
          <a:prstGeom prst="rect">
            <a:avLst/>
          </a:prstGeom>
          <a:solidFill>
            <a:srgbClr val="82C2DD"/>
          </a:solidFill>
          <a:ln>
            <a:noFill/>
          </a:ln>
          <a:effectLst/>
        </p:spPr>
        <p:txBody>
          <a:bodyPr rtlCol="0" anchor="ctr"/>
          <a:lstStyle/>
          <a:p>
            <a:pPr algn="ctr"/>
            <a:endParaRPr/>
          </a:p>
        </p:txBody>
      </p:sp>
      <p:sp>
        <p:nvSpPr>
          <p:cNvPr id="15" name="TextBox 14"/>
          <p:cNvSpPr txBox="1"/>
          <p:nvPr/>
        </p:nvSpPr>
        <p:spPr>
          <a:xfrm>
            <a:off x="603504" y="3108960"/>
            <a:ext cx="6995160" cy="1143000"/>
          </a:xfrm>
          <a:prstGeom prst="rect">
            <a:avLst/>
          </a:prstGeom>
          <a:noFill/>
        </p:spPr>
        <p:txBody>
          <a:bodyPr wrap="square" lIns="0" tIns="0" rIns="0" bIns="0" anchor="t">
            <a:spAutoFit/>
          </a:bodyPr>
          <a:lstStyle/>
          <a:p>
            <a:pPr algn="l">
              <a:spcBef>
                <a:spcPts val="0"/>
              </a:spcBef>
              <a:spcAft>
                <a:spcPts val="100"/>
              </a:spcAft>
            </a:pPr>
            <a:r>
              <a:rPr sz="950" b="1">
                <a:solidFill>
                  <a:srgbClr val="233E67"/>
                </a:solidFill>
                <a:latin typeface="Calibri"/>
              </a:rPr>
              <a:t>AGILE AI INTEGRATION</a:t>
            </a:r>
          </a:p>
          <a:p>
            <a:pPr algn="l">
              <a:spcBef>
                <a:spcPts val="0"/>
              </a:spcBef>
              <a:spcAft>
                <a:spcPts val="500"/>
              </a:spcAft>
            </a:pPr>
            <a:r>
              <a:rPr sz="850" b="0">
                <a:solidFill>
                  <a:srgbClr val="7A8CA6"/>
                </a:solidFill>
                <a:latin typeface="Calibri"/>
              </a:rPr>
              <a:t>What are you allowed to use?</a:t>
            </a:r>
          </a:p>
          <a:p>
            <a:pPr algn="l">
              <a:lnSpc>
                <a:spcPct val="110000"/>
              </a:lnSpc>
              <a:spcBef>
                <a:spcPts val="0"/>
              </a:spcBef>
              <a:spcAft>
                <a:spcPts val="0"/>
              </a:spcAft>
            </a:pPr>
            <a:r>
              <a:rPr sz="1100" b="0">
                <a:solidFill>
                  <a:srgbClr val="4A5E80"/>
                </a:solidFill>
                <a:latin typeface="Calibri"/>
              </a:rPr>
              <a:t>The use of commercial image-recognition and generative-AI APIs is allowed and encouraged, to solve visual search and recommendation quickly and efficiently. An OpenAI API key with USD 40 of credit will be provided for development.</a:t>
            </a:r>
          </a:p>
        </p:txBody>
      </p:sp>
      <p:sp>
        <p:nvSpPr>
          <p:cNvPr id="16" name="Rectangle 15"/>
          <p:cNvSpPr/>
          <p:nvPr/>
        </p:nvSpPr>
        <p:spPr>
          <a:xfrm>
            <a:off x="384048" y="4544568"/>
            <a:ext cx="7406640" cy="1188720"/>
          </a:xfrm>
          <a:prstGeom prst="rect">
            <a:avLst/>
          </a:prstGeom>
          <a:solidFill>
            <a:srgbClr val="F4F8FB"/>
          </a:solidFill>
          <a:ln>
            <a:noFill/>
          </a:ln>
          <a:effectLst/>
        </p:spPr>
        <p:txBody>
          <a:bodyPr rtlCol="0" anchor="ctr"/>
          <a:lstStyle/>
          <a:p>
            <a:pPr algn="ctr"/>
            <a:endParaRPr/>
          </a:p>
        </p:txBody>
      </p:sp>
      <p:sp>
        <p:nvSpPr>
          <p:cNvPr id="17" name="Rectangle 16"/>
          <p:cNvSpPr/>
          <p:nvPr/>
        </p:nvSpPr>
        <p:spPr>
          <a:xfrm>
            <a:off x="384048" y="4544568"/>
            <a:ext cx="36576" cy="1188720"/>
          </a:xfrm>
          <a:prstGeom prst="rect">
            <a:avLst/>
          </a:prstGeom>
          <a:solidFill>
            <a:srgbClr val="82C2DD"/>
          </a:solidFill>
          <a:ln>
            <a:noFill/>
          </a:ln>
          <a:effectLst/>
        </p:spPr>
        <p:txBody>
          <a:bodyPr rtlCol="0" anchor="ctr"/>
          <a:lstStyle/>
          <a:p>
            <a:pPr algn="ctr"/>
            <a:endParaRPr/>
          </a:p>
        </p:txBody>
      </p:sp>
      <p:sp>
        <p:nvSpPr>
          <p:cNvPr id="18" name="TextBox 17"/>
          <p:cNvSpPr txBox="1"/>
          <p:nvPr/>
        </p:nvSpPr>
        <p:spPr>
          <a:xfrm>
            <a:off x="603504" y="4690872"/>
            <a:ext cx="6995160" cy="914400"/>
          </a:xfrm>
          <a:prstGeom prst="rect">
            <a:avLst/>
          </a:prstGeom>
          <a:noFill/>
        </p:spPr>
        <p:txBody>
          <a:bodyPr wrap="square" lIns="0" tIns="0" rIns="0" bIns="0" anchor="t">
            <a:spAutoFit/>
          </a:bodyPr>
          <a:lstStyle/>
          <a:p>
            <a:pPr algn="l">
              <a:spcBef>
                <a:spcPts val="0"/>
              </a:spcBef>
              <a:spcAft>
                <a:spcPts val="100"/>
              </a:spcAft>
            </a:pPr>
            <a:r>
              <a:rPr sz="950" b="1">
                <a:solidFill>
                  <a:srgbClr val="233E67"/>
                </a:solidFill>
                <a:latin typeface="Calibri"/>
              </a:rPr>
              <a:t>PORTFOLIO OF THE PoC</a:t>
            </a:r>
          </a:p>
          <a:p>
            <a:pPr algn="l">
              <a:spcBef>
                <a:spcPts val="0"/>
              </a:spcBef>
              <a:spcAft>
                <a:spcPts val="500"/>
              </a:spcAft>
            </a:pPr>
            <a:r>
              <a:rPr sz="850" b="0">
                <a:solidFill>
                  <a:srgbClr val="7A8CA6"/>
                </a:solidFill>
                <a:latin typeface="Calibri"/>
              </a:rPr>
              <a:t>What data do you work with?</a:t>
            </a:r>
          </a:p>
          <a:p>
            <a:pPr algn="l">
              <a:lnSpc>
                <a:spcPct val="110000"/>
              </a:lnSpc>
              <a:spcBef>
                <a:spcPts val="0"/>
              </a:spcBef>
              <a:spcAft>
                <a:spcPts val="0"/>
              </a:spcAft>
            </a:pPr>
            <a:r>
              <a:rPr sz="1100" b="0">
                <a:solidFill>
                  <a:srgbClr val="4A5E80"/>
                </a:solidFill>
                <a:latin typeface="Calibri"/>
              </a:rPr>
              <a:t>The portfolio to be recognised is a sample of 20 dinnerware sets that must have pages within vajillascorona.com.co. The graphic, visual and descriptive content is to be extracted from those pages.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l_watermark.png"/>
          <p:cNvPicPr>
            <a:picLocks noChangeAspect="1"/>
          </p:cNvPicPr>
          <p:nvPr/>
        </p:nvPicPr>
        <p:blipFill>
          <a:blip r:embed="rId2"/>
          <a:stretch>
            <a:fillRect/>
          </a:stretch>
        </p:blipFill>
        <p:spPr>
          <a:xfrm>
            <a:off x="0" y="5724144"/>
            <a:ext cx="1517904" cy="1133856"/>
          </a:xfrm>
          <a:prstGeom prst="rect">
            <a:avLst/>
          </a:prstGeom>
        </p:spPr>
      </p:pic>
      <p:pic>
        <p:nvPicPr>
          <p:cNvPr id="3" name="Picture 2" descr="ll_145anos.png"/>
          <p:cNvPicPr>
            <a:picLocks noChangeAspect="1"/>
          </p:cNvPicPr>
          <p:nvPr/>
        </p:nvPicPr>
        <p:blipFill>
          <a:blip r:embed="rId3"/>
          <a:stretch>
            <a:fillRect/>
          </a:stretch>
        </p:blipFill>
        <p:spPr>
          <a:xfrm>
            <a:off x="0" y="6135624"/>
            <a:ext cx="1325880" cy="722376"/>
          </a:xfrm>
          <a:prstGeom prst="rect">
            <a:avLst/>
          </a:prstGeom>
        </p:spPr>
      </p:pic>
      <p:pic>
        <p:nvPicPr>
          <p:cNvPr id="4" name="Picture 3" descr="corona_mark.png"/>
          <p:cNvPicPr>
            <a:picLocks noChangeAspect="1"/>
          </p:cNvPicPr>
          <p:nvPr/>
        </p:nvPicPr>
        <p:blipFill>
          <a:blip r:embed="rId4"/>
          <a:stretch>
            <a:fillRect/>
          </a:stretch>
        </p:blipFill>
        <p:spPr>
          <a:xfrm>
            <a:off x="10780776" y="6336792"/>
            <a:ext cx="1060704" cy="155448"/>
          </a:xfrm>
          <a:prstGeom prst="rect">
            <a:avLst/>
          </a:prstGeom>
        </p:spPr>
      </p:pic>
      <p:sp>
        <p:nvSpPr>
          <p:cNvPr id="5" name="TextBox 4"/>
          <p:cNvSpPr txBox="1"/>
          <p:nvPr/>
        </p:nvSpPr>
        <p:spPr>
          <a:xfrm>
            <a:off x="338328" y="384048"/>
            <a:ext cx="8778240" cy="402336"/>
          </a:xfrm>
          <a:prstGeom prst="rect">
            <a:avLst/>
          </a:prstGeom>
          <a:noFill/>
        </p:spPr>
        <p:txBody>
          <a:bodyPr wrap="square" lIns="0" tIns="0" rIns="0" bIns="0" anchor="t">
            <a:spAutoFit/>
          </a:bodyPr>
          <a:lstStyle/>
          <a:p>
            <a:pPr algn="l">
              <a:spcBef>
                <a:spcPts val="0"/>
              </a:spcBef>
              <a:spcAft>
                <a:spcPts val="0"/>
              </a:spcAft>
            </a:pPr>
            <a:r>
              <a:rPr sz="2400" b="1">
                <a:solidFill>
                  <a:srgbClr val="82C2DD"/>
                </a:solidFill>
                <a:latin typeface="Calibri"/>
              </a:rPr>
              <a:t>Visual Search &amp; Recommendation</a:t>
            </a:r>
          </a:p>
        </p:txBody>
      </p:sp>
      <p:sp>
        <p:nvSpPr>
          <p:cNvPr id="6" name="TextBox 5"/>
          <p:cNvSpPr txBox="1"/>
          <p:nvPr/>
        </p:nvSpPr>
        <p:spPr>
          <a:xfrm>
            <a:off x="338328" y="804672"/>
            <a:ext cx="9509760" cy="457200"/>
          </a:xfrm>
          <a:prstGeom prst="rect">
            <a:avLst/>
          </a:prstGeom>
          <a:noFill/>
        </p:spPr>
        <p:txBody>
          <a:bodyPr wrap="square" lIns="0" tIns="0" rIns="0" bIns="0" anchor="t">
            <a:spAutoFit/>
          </a:bodyPr>
          <a:lstStyle/>
          <a:p>
            <a:pPr algn="l">
              <a:spcBef>
                <a:spcPts val="0"/>
              </a:spcBef>
              <a:spcAft>
                <a:spcPts val="0"/>
              </a:spcAft>
            </a:pPr>
            <a:r>
              <a:rPr sz="2000" b="1">
                <a:solidFill>
                  <a:srgbClr val="233E67"/>
                </a:solidFill>
                <a:latin typeface="Calibri"/>
              </a:rPr>
              <a:t>User experience flow</a:t>
            </a:r>
          </a:p>
        </p:txBody>
      </p:sp>
      <p:sp>
        <p:nvSpPr>
          <p:cNvPr id="7" name="TextBox 6"/>
          <p:cNvSpPr txBox="1"/>
          <p:nvPr/>
        </p:nvSpPr>
        <p:spPr>
          <a:xfrm>
            <a:off x="365760" y="1316736"/>
            <a:ext cx="11430000" cy="219456"/>
          </a:xfrm>
          <a:prstGeom prst="rect">
            <a:avLst/>
          </a:prstGeom>
          <a:noFill/>
        </p:spPr>
        <p:txBody>
          <a:bodyPr wrap="square" lIns="0" tIns="0" rIns="0" bIns="0" anchor="t">
            <a:spAutoFit/>
          </a:bodyPr>
          <a:lstStyle/>
          <a:p>
            <a:pPr algn="l">
              <a:spcBef>
                <a:spcPts val="0"/>
              </a:spcBef>
              <a:spcAft>
                <a:spcPts val="0"/>
              </a:spcAft>
            </a:pPr>
            <a:r>
              <a:rPr sz="950" b="1">
                <a:solidFill>
                  <a:srgbClr val="7A8CA6"/>
                </a:solidFill>
                <a:latin typeface="Calibri"/>
              </a:rPr>
              <a:t>Entry point: </a:t>
            </a:r>
            <a:r>
              <a:rPr sz="950" b="0">
                <a:solidFill>
                  <a:srgbClr val="4A5E80"/>
                </a:solidFill>
                <a:latin typeface="Calibri"/>
              </a:rPr>
              <a:t>One single URL</a:t>
            </a:r>
            <a:r>
              <a:rPr sz="950" b="0">
                <a:solidFill>
                  <a:srgbClr val="C6D2DF"/>
                </a:solidFill>
                <a:latin typeface="Calibri"/>
              </a:rPr>
              <a:t>     |     </a:t>
            </a:r>
            <a:r>
              <a:rPr sz="950" b="1">
                <a:solidFill>
                  <a:srgbClr val="7A8CA6"/>
                </a:solidFill>
                <a:latin typeface="Calibri"/>
              </a:rPr>
              <a:t>Design: </a:t>
            </a:r>
            <a:r>
              <a:rPr sz="950" b="0">
                <a:solidFill>
                  <a:srgbClr val="4A5E80"/>
                </a:solidFill>
                <a:latin typeface="Calibri"/>
              </a:rPr>
              <a:t>Mobile-first, frictionless</a:t>
            </a:r>
          </a:p>
        </p:txBody>
      </p:sp>
      <p:sp>
        <p:nvSpPr>
          <p:cNvPr id="8" name="Rectangle 7"/>
          <p:cNvSpPr/>
          <p:nvPr/>
        </p:nvSpPr>
        <p:spPr>
          <a:xfrm>
            <a:off x="384048" y="2011680"/>
            <a:ext cx="2697480" cy="2011680"/>
          </a:xfrm>
          <a:prstGeom prst="rect">
            <a:avLst/>
          </a:prstGeom>
          <a:solidFill>
            <a:srgbClr val="F4F8FB"/>
          </a:solidFill>
          <a:ln>
            <a:noFill/>
          </a:ln>
          <a:effectLst/>
        </p:spPr>
        <p:txBody>
          <a:bodyPr rtlCol="0" anchor="ctr"/>
          <a:lstStyle/>
          <a:p>
            <a:pPr algn="ctr"/>
            <a:endParaRPr/>
          </a:p>
        </p:txBody>
      </p:sp>
      <p:sp>
        <p:nvSpPr>
          <p:cNvPr id="9" name="Rectangle 8"/>
          <p:cNvSpPr/>
          <p:nvPr/>
        </p:nvSpPr>
        <p:spPr>
          <a:xfrm>
            <a:off x="384048" y="2011680"/>
            <a:ext cx="36576" cy="2011680"/>
          </a:xfrm>
          <a:prstGeom prst="rect">
            <a:avLst/>
          </a:prstGeom>
          <a:solidFill>
            <a:srgbClr val="82C2DD"/>
          </a:solidFill>
          <a:ln>
            <a:noFill/>
          </a:ln>
          <a:effectLst/>
        </p:spPr>
        <p:txBody>
          <a:bodyPr rtlCol="0" anchor="ctr"/>
          <a:lstStyle/>
          <a:p>
            <a:pPr algn="ctr"/>
            <a:endParaRPr/>
          </a:p>
        </p:txBody>
      </p:sp>
      <p:sp>
        <p:nvSpPr>
          <p:cNvPr id="10" name="TextBox 9"/>
          <p:cNvSpPr txBox="1"/>
          <p:nvPr/>
        </p:nvSpPr>
        <p:spPr>
          <a:xfrm>
            <a:off x="585216" y="2194560"/>
            <a:ext cx="2295144" cy="1691640"/>
          </a:xfrm>
          <a:prstGeom prst="rect">
            <a:avLst/>
          </a:prstGeom>
          <a:noFill/>
        </p:spPr>
        <p:txBody>
          <a:bodyPr wrap="square" lIns="0" tIns="0" rIns="0" bIns="0" anchor="t">
            <a:spAutoFit/>
          </a:bodyPr>
          <a:lstStyle/>
          <a:p>
            <a:pPr algn="l">
              <a:spcBef>
                <a:spcPts val="0"/>
              </a:spcBef>
              <a:spcAft>
                <a:spcPts val="400"/>
              </a:spcAft>
            </a:pPr>
            <a:r>
              <a:rPr sz="1300" b="1">
                <a:solidFill>
                  <a:srgbClr val="82C2DD"/>
                </a:solidFill>
                <a:latin typeface="Calibri"/>
              </a:rPr>
              <a:t>01</a:t>
            </a:r>
          </a:p>
          <a:p>
            <a:pPr algn="l">
              <a:spcBef>
                <a:spcPts val="0"/>
              </a:spcBef>
              <a:spcAft>
                <a:spcPts val="200"/>
              </a:spcAft>
            </a:pPr>
            <a:r>
              <a:rPr sz="1300" b="1">
                <a:solidFill>
                  <a:srgbClr val="233E67"/>
                </a:solidFill>
                <a:latin typeface="Calibri"/>
              </a:rPr>
              <a:t>Upload or search</a:t>
            </a:r>
          </a:p>
          <a:p>
            <a:pPr algn="l">
              <a:spcBef>
                <a:spcPts val="0"/>
              </a:spcBef>
              <a:spcAft>
                <a:spcPts val="800"/>
              </a:spcAft>
            </a:pPr>
            <a:r>
              <a:rPr sz="900" b="0">
                <a:solidFill>
                  <a:srgbClr val="7A8CA6"/>
                </a:solidFill>
                <a:latin typeface="Calibri"/>
              </a:rPr>
              <a:t>Photo or text reference</a:t>
            </a:r>
          </a:p>
          <a:p>
            <a:pPr algn="l">
              <a:lnSpc>
                <a:spcPct val="112000"/>
              </a:lnSpc>
              <a:spcBef>
                <a:spcPts val="0"/>
              </a:spcBef>
              <a:spcAft>
                <a:spcPts val="0"/>
              </a:spcAft>
            </a:pPr>
            <a:r>
              <a:rPr sz="1050" b="0">
                <a:solidFill>
                  <a:srgbClr val="4A5E80"/>
                </a:solidFill>
                <a:latin typeface="Calibri"/>
              </a:rPr>
              <a:t>The customer starts from what they already have at home, or from an idea in words.</a:t>
            </a:r>
          </a:p>
        </p:txBody>
      </p:sp>
      <p:sp>
        <p:nvSpPr>
          <p:cNvPr id="11" name="Isosceles Triangle 10"/>
          <p:cNvSpPr/>
          <p:nvPr/>
        </p:nvSpPr>
        <p:spPr>
          <a:xfrm rot="5400000">
            <a:off x="3122676" y="2926080"/>
            <a:ext cx="137160" cy="182880"/>
          </a:xfrm>
          <a:prstGeom prst="triangle">
            <a:avLst/>
          </a:prstGeom>
          <a:solidFill>
            <a:srgbClr val="82C2DD"/>
          </a:solidFill>
          <a:ln>
            <a:noFill/>
          </a:ln>
          <a:effectLst/>
        </p:spPr>
        <p:txBody>
          <a:bodyPr rtlCol="0" anchor="ctr"/>
          <a:lstStyle/>
          <a:p>
            <a:pPr algn="ctr"/>
            <a:endParaRPr/>
          </a:p>
        </p:txBody>
      </p:sp>
      <p:sp>
        <p:nvSpPr>
          <p:cNvPr id="12" name="Rectangle 11"/>
          <p:cNvSpPr/>
          <p:nvPr/>
        </p:nvSpPr>
        <p:spPr>
          <a:xfrm>
            <a:off x="3300984" y="2011680"/>
            <a:ext cx="2697480" cy="2011680"/>
          </a:xfrm>
          <a:prstGeom prst="rect">
            <a:avLst/>
          </a:prstGeom>
          <a:solidFill>
            <a:srgbClr val="F4F8FB"/>
          </a:solidFill>
          <a:ln>
            <a:noFill/>
          </a:ln>
          <a:effectLst/>
        </p:spPr>
        <p:txBody>
          <a:bodyPr rtlCol="0" anchor="ctr"/>
          <a:lstStyle/>
          <a:p>
            <a:pPr algn="ctr"/>
            <a:endParaRPr/>
          </a:p>
        </p:txBody>
      </p:sp>
      <p:sp>
        <p:nvSpPr>
          <p:cNvPr id="13" name="Rectangle 12"/>
          <p:cNvSpPr/>
          <p:nvPr/>
        </p:nvSpPr>
        <p:spPr>
          <a:xfrm>
            <a:off x="3300984" y="2011680"/>
            <a:ext cx="36576" cy="2011680"/>
          </a:xfrm>
          <a:prstGeom prst="rect">
            <a:avLst/>
          </a:prstGeom>
          <a:solidFill>
            <a:srgbClr val="82C2DD"/>
          </a:solidFill>
          <a:ln>
            <a:noFill/>
          </a:ln>
          <a:effectLst/>
        </p:spPr>
        <p:txBody>
          <a:bodyPr rtlCol="0" anchor="ctr"/>
          <a:lstStyle/>
          <a:p>
            <a:pPr algn="ctr"/>
            <a:endParaRPr/>
          </a:p>
        </p:txBody>
      </p:sp>
      <p:sp>
        <p:nvSpPr>
          <p:cNvPr id="14" name="TextBox 13"/>
          <p:cNvSpPr txBox="1"/>
          <p:nvPr/>
        </p:nvSpPr>
        <p:spPr>
          <a:xfrm>
            <a:off x="3502152" y="2194560"/>
            <a:ext cx="2295144" cy="1691640"/>
          </a:xfrm>
          <a:prstGeom prst="rect">
            <a:avLst/>
          </a:prstGeom>
          <a:noFill/>
        </p:spPr>
        <p:txBody>
          <a:bodyPr wrap="square" lIns="0" tIns="0" rIns="0" bIns="0" anchor="t">
            <a:spAutoFit/>
          </a:bodyPr>
          <a:lstStyle/>
          <a:p>
            <a:pPr algn="l">
              <a:spcBef>
                <a:spcPts val="0"/>
              </a:spcBef>
              <a:spcAft>
                <a:spcPts val="400"/>
              </a:spcAft>
            </a:pPr>
            <a:r>
              <a:rPr sz="1300" b="1">
                <a:solidFill>
                  <a:srgbClr val="82C2DD"/>
                </a:solidFill>
                <a:latin typeface="Calibri"/>
              </a:rPr>
              <a:t>02</a:t>
            </a:r>
          </a:p>
          <a:p>
            <a:pPr algn="l">
              <a:spcBef>
                <a:spcPts val="0"/>
              </a:spcBef>
              <a:spcAft>
                <a:spcPts val="200"/>
              </a:spcAft>
            </a:pPr>
            <a:r>
              <a:rPr sz="1300" b="1">
                <a:solidFill>
                  <a:srgbClr val="233E67"/>
                </a:solidFill>
                <a:latin typeface="Calibri"/>
              </a:rPr>
              <a:t>Style questions</a:t>
            </a:r>
          </a:p>
          <a:p>
            <a:pPr algn="l">
              <a:spcBef>
                <a:spcPts val="0"/>
              </a:spcBef>
              <a:spcAft>
                <a:spcPts val="800"/>
              </a:spcAft>
            </a:pPr>
            <a:r>
              <a:rPr sz="900" b="0">
                <a:solidFill>
                  <a:srgbClr val="7A8CA6"/>
                </a:solidFill>
                <a:latin typeface="Calibri"/>
              </a:rPr>
              <a:t>Quick preferences</a:t>
            </a:r>
          </a:p>
          <a:p>
            <a:pPr algn="l">
              <a:lnSpc>
                <a:spcPct val="112000"/>
              </a:lnSpc>
              <a:spcBef>
                <a:spcPts val="0"/>
              </a:spcBef>
              <a:spcAft>
                <a:spcPts val="0"/>
              </a:spcAft>
            </a:pPr>
            <a:r>
              <a:rPr sz="1050" b="0">
                <a:solidFill>
                  <a:srgbClr val="4A5E80"/>
                </a:solidFill>
                <a:latin typeface="Calibri"/>
              </a:rPr>
              <a:t>A few simple questions narrow the search and capture the style the customer is after.</a:t>
            </a:r>
          </a:p>
        </p:txBody>
      </p:sp>
      <p:sp>
        <p:nvSpPr>
          <p:cNvPr id="15" name="Isosceles Triangle 14"/>
          <p:cNvSpPr/>
          <p:nvPr/>
        </p:nvSpPr>
        <p:spPr>
          <a:xfrm rot="5400000">
            <a:off x="6039612" y="2926080"/>
            <a:ext cx="137160" cy="182880"/>
          </a:xfrm>
          <a:prstGeom prst="triangle">
            <a:avLst/>
          </a:prstGeom>
          <a:solidFill>
            <a:srgbClr val="82C2DD"/>
          </a:solidFill>
          <a:ln>
            <a:noFill/>
          </a:ln>
          <a:effectLst/>
        </p:spPr>
        <p:txBody>
          <a:bodyPr rtlCol="0" anchor="ctr"/>
          <a:lstStyle/>
          <a:p>
            <a:pPr algn="ctr"/>
            <a:endParaRPr/>
          </a:p>
        </p:txBody>
      </p:sp>
      <p:sp>
        <p:nvSpPr>
          <p:cNvPr id="16" name="Rectangle 15"/>
          <p:cNvSpPr/>
          <p:nvPr/>
        </p:nvSpPr>
        <p:spPr>
          <a:xfrm>
            <a:off x="6217920" y="2011680"/>
            <a:ext cx="2697480" cy="2011680"/>
          </a:xfrm>
          <a:prstGeom prst="rect">
            <a:avLst/>
          </a:prstGeom>
          <a:solidFill>
            <a:srgbClr val="F4F8FB"/>
          </a:solidFill>
          <a:ln>
            <a:noFill/>
          </a:ln>
          <a:effectLst/>
        </p:spPr>
        <p:txBody>
          <a:bodyPr rtlCol="0" anchor="ctr"/>
          <a:lstStyle/>
          <a:p>
            <a:pPr algn="ctr"/>
            <a:endParaRPr/>
          </a:p>
        </p:txBody>
      </p:sp>
      <p:sp>
        <p:nvSpPr>
          <p:cNvPr id="17" name="Rectangle 16"/>
          <p:cNvSpPr/>
          <p:nvPr/>
        </p:nvSpPr>
        <p:spPr>
          <a:xfrm>
            <a:off x="6217920" y="2011680"/>
            <a:ext cx="36576" cy="2011680"/>
          </a:xfrm>
          <a:prstGeom prst="rect">
            <a:avLst/>
          </a:prstGeom>
          <a:solidFill>
            <a:srgbClr val="82C2DD"/>
          </a:solidFill>
          <a:ln>
            <a:noFill/>
          </a:ln>
          <a:effectLst/>
        </p:spPr>
        <p:txBody>
          <a:bodyPr rtlCol="0" anchor="ctr"/>
          <a:lstStyle/>
          <a:p>
            <a:pPr algn="ctr"/>
            <a:endParaRPr/>
          </a:p>
        </p:txBody>
      </p:sp>
      <p:sp>
        <p:nvSpPr>
          <p:cNvPr id="18" name="TextBox 17"/>
          <p:cNvSpPr txBox="1"/>
          <p:nvPr/>
        </p:nvSpPr>
        <p:spPr>
          <a:xfrm>
            <a:off x="6419088" y="2194560"/>
            <a:ext cx="2295144" cy="1691640"/>
          </a:xfrm>
          <a:prstGeom prst="rect">
            <a:avLst/>
          </a:prstGeom>
          <a:noFill/>
        </p:spPr>
        <p:txBody>
          <a:bodyPr wrap="square" lIns="0" tIns="0" rIns="0" bIns="0" anchor="t">
            <a:spAutoFit/>
          </a:bodyPr>
          <a:lstStyle/>
          <a:p>
            <a:pPr algn="l">
              <a:spcBef>
                <a:spcPts val="0"/>
              </a:spcBef>
              <a:spcAft>
                <a:spcPts val="400"/>
              </a:spcAft>
            </a:pPr>
            <a:r>
              <a:rPr sz="1300" b="1">
                <a:solidFill>
                  <a:srgbClr val="82C2DD"/>
                </a:solidFill>
                <a:latin typeface="Calibri"/>
              </a:rPr>
              <a:t>03</a:t>
            </a:r>
          </a:p>
          <a:p>
            <a:pPr algn="l">
              <a:spcBef>
                <a:spcPts val="0"/>
              </a:spcBef>
              <a:spcAft>
                <a:spcPts val="200"/>
              </a:spcAft>
            </a:pPr>
            <a:r>
              <a:rPr sz="1300" b="1">
                <a:solidFill>
                  <a:srgbClr val="233E67"/>
                </a:solidFill>
                <a:latin typeface="Calibri"/>
              </a:rPr>
              <a:t>Explore</a:t>
            </a:r>
          </a:p>
          <a:p>
            <a:pPr algn="l">
              <a:spcBef>
                <a:spcPts val="0"/>
              </a:spcBef>
              <a:spcAft>
                <a:spcPts val="800"/>
              </a:spcAft>
            </a:pPr>
            <a:r>
              <a:rPr sz="900" b="0">
                <a:solidFill>
                  <a:srgbClr val="7A8CA6"/>
                </a:solidFill>
                <a:latin typeface="Calibri"/>
              </a:rPr>
              <a:t>Moodboard &amp; Mix and Match</a:t>
            </a:r>
          </a:p>
          <a:p>
            <a:pPr algn="l">
              <a:lnSpc>
                <a:spcPct val="112000"/>
              </a:lnSpc>
              <a:spcBef>
                <a:spcPts val="0"/>
              </a:spcBef>
              <a:spcAft>
                <a:spcPts val="0"/>
              </a:spcAft>
            </a:pPr>
            <a:r>
              <a:rPr sz="1050" b="0">
                <a:solidFill>
                  <a:srgbClr val="4A5E80"/>
                </a:solidFill>
                <a:latin typeface="Calibri"/>
              </a:rPr>
              <a:t>The system returns exact pieces, complementary items and a visual board to explore.</a:t>
            </a:r>
          </a:p>
        </p:txBody>
      </p:sp>
      <p:sp>
        <p:nvSpPr>
          <p:cNvPr id="19" name="Isosceles Triangle 18"/>
          <p:cNvSpPr/>
          <p:nvPr/>
        </p:nvSpPr>
        <p:spPr>
          <a:xfrm rot="5400000">
            <a:off x="8956548" y="2926080"/>
            <a:ext cx="137160" cy="182880"/>
          </a:xfrm>
          <a:prstGeom prst="triangle">
            <a:avLst/>
          </a:prstGeom>
          <a:solidFill>
            <a:srgbClr val="82C2DD"/>
          </a:solidFill>
          <a:ln>
            <a:noFill/>
          </a:ln>
          <a:effectLst/>
        </p:spPr>
        <p:txBody>
          <a:bodyPr rtlCol="0" anchor="ctr"/>
          <a:lstStyle/>
          <a:p>
            <a:pPr algn="ctr"/>
            <a:endParaRPr/>
          </a:p>
        </p:txBody>
      </p:sp>
      <p:sp>
        <p:nvSpPr>
          <p:cNvPr id="20" name="Rectangle 19"/>
          <p:cNvSpPr/>
          <p:nvPr/>
        </p:nvSpPr>
        <p:spPr>
          <a:xfrm>
            <a:off x="9134856" y="2011680"/>
            <a:ext cx="2697480" cy="2011680"/>
          </a:xfrm>
          <a:prstGeom prst="rect">
            <a:avLst/>
          </a:prstGeom>
          <a:solidFill>
            <a:srgbClr val="F4F8FB"/>
          </a:solidFill>
          <a:ln>
            <a:noFill/>
          </a:ln>
          <a:effectLst/>
        </p:spPr>
        <p:txBody>
          <a:bodyPr rtlCol="0" anchor="ctr"/>
          <a:lstStyle/>
          <a:p>
            <a:pPr algn="ctr"/>
            <a:endParaRPr/>
          </a:p>
        </p:txBody>
      </p:sp>
      <p:sp>
        <p:nvSpPr>
          <p:cNvPr id="21" name="Rectangle 20"/>
          <p:cNvSpPr/>
          <p:nvPr/>
        </p:nvSpPr>
        <p:spPr>
          <a:xfrm>
            <a:off x="9134856" y="2011680"/>
            <a:ext cx="36576" cy="2011680"/>
          </a:xfrm>
          <a:prstGeom prst="rect">
            <a:avLst/>
          </a:prstGeom>
          <a:solidFill>
            <a:srgbClr val="82C2DD"/>
          </a:solidFill>
          <a:ln>
            <a:noFill/>
          </a:ln>
          <a:effectLst/>
        </p:spPr>
        <p:txBody>
          <a:bodyPr rtlCol="0" anchor="ctr"/>
          <a:lstStyle/>
          <a:p>
            <a:pPr algn="ctr"/>
            <a:endParaRPr/>
          </a:p>
        </p:txBody>
      </p:sp>
      <p:sp>
        <p:nvSpPr>
          <p:cNvPr id="22" name="TextBox 21"/>
          <p:cNvSpPr txBox="1"/>
          <p:nvPr/>
        </p:nvSpPr>
        <p:spPr>
          <a:xfrm>
            <a:off x="9336024" y="2194560"/>
            <a:ext cx="2295144" cy="1691640"/>
          </a:xfrm>
          <a:prstGeom prst="rect">
            <a:avLst/>
          </a:prstGeom>
          <a:noFill/>
        </p:spPr>
        <p:txBody>
          <a:bodyPr wrap="square" lIns="0" tIns="0" rIns="0" bIns="0" anchor="t">
            <a:spAutoFit/>
          </a:bodyPr>
          <a:lstStyle/>
          <a:p>
            <a:pPr algn="l">
              <a:spcBef>
                <a:spcPts val="0"/>
              </a:spcBef>
              <a:spcAft>
                <a:spcPts val="400"/>
              </a:spcAft>
            </a:pPr>
            <a:r>
              <a:rPr sz="1300" b="1">
                <a:solidFill>
                  <a:srgbClr val="82C2DD"/>
                </a:solidFill>
                <a:latin typeface="Calibri"/>
              </a:rPr>
              <a:t>04</a:t>
            </a:r>
          </a:p>
          <a:p>
            <a:pPr algn="l">
              <a:spcBef>
                <a:spcPts val="0"/>
              </a:spcBef>
              <a:spcAft>
                <a:spcPts val="200"/>
              </a:spcAft>
            </a:pPr>
            <a:r>
              <a:rPr sz="1300" b="1">
                <a:solidFill>
                  <a:srgbClr val="233E67"/>
                </a:solidFill>
                <a:latin typeface="Calibri"/>
              </a:rPr>
              <a:t>Buy</a:t>
            </a:r>
          </a:p>
          <a:p>
            <a:pPr algn="l">
              <a:spcBef>
                <a:spcPts val="0"/>
              </a:spcBef>
              <a:spcAft>
                <a:spcPts val="800"/>
              </a:spcAft>
            </a:pPr>
            <a:r>
              <a:rPr sz="900" b="0">
                <a:solidFill>
                  <a:srgbClr val="7A8CA6"/>
                </a:solidFill>
                <a:latin typeface="Calibri"/>
              </a:rPr>
              <a:t>Add to cart and pay</a:t>
            </a:r>
          </a:p>
          <a:p>
            <a:pPr algn="l">
              <a:lnSpc>
                <a:spcPct val="112000"/>
              </a:lnSpc>
              <a:spcBef>
                <a:spcPts val="0"/>
              </a:spcBef>
              <a:spcAft>
                <a:spcPts val="0"/>
              </a:spcAft>
            </a:pPr>
            <a:r>
              <a:rPr sz="1050" b="0">
                <a:solidFill>
                  <a:srgbClr val="4A5E80"/>
                </a:solidFill>
                <a:latin typeface="Calibri"/>
              </a:rPr>
              <a:t>The chosen piece links out to its real product page in the official store.</a:t>
            </a:r>
          </a:p>
        </p:txBody>
      </p:sp>
      <p:sp>
        <p:nvSpPr>
          <p:cNvPr id="23" name="Rectangle 22"/>
          <p:cNvSpPr/>
          <p:nvPr/>
        </p:nvSpPr>
        <p:spPr>
          <a:xfrm>
            <a:off x="384048" y="4407408"/>
            <a:ext cx="11430000" cy="914400"/>
          </a:xfrm>
          <a:prstGeom prst="rect">
            <a:avLst/>
          </a:prstGeom>
          <a:solidFill>
            <a:srgbClr val="ECF4F9"/>
          </a:solidFill>
          <a:ln>
            <a:noFill/>
          </a:ln>
          <a:effectLst/>
        </p:spPr>
        <p:txBody>
          <a:bodyPr rtlCol="0" anchor="ctr"/>
          <a:lstStyle/>
          <a:p>
            <a:pPr algn="ctr"/>
            <a:endParaRPr/>
          </a:p>
        </p:txBody>
      </p:sp>
      <p:sp>
        <p:nvSpPr>
          <p:cNvPr id="24" name="Rectangle 23"/>
          <p:cNvSpPr/>
          <p:nvPr/>
        </p:nvSpPr>
        <p:spPr>
          <a:xfrm>
            <a:off x="384048" y="4407408"/>
            <a:ext cx="36576" cy="914400"/>
          </a:xfrm>
          <a:prstGeom prst="rect">
            <a:avLst/>
          </a:prstGeom>
          <a:solidFill>
            <a:srgbClr val="82C2DD"/>
          </a:solidFill>
          <a:ln>
            <a:noFill/>
          </a:ln>
          <a:effectLst/>
        </p:spPr>
        <p:txBody>
          <a:bodyPr rtlCol="0" anchor="ctr"/>
          <a:lstStyle/>
          <a:p>
            <a:pPr algn="ctr"/>
            <a:endParaRPr/>
          </a:p>
        </p:txBody>
      </p:sp>
      <p:sp>
        <p:nvSpPr>
          <p:cNvPr id="25" name="TextBox 24"/>
          <p:cNvSpPr txBox="1"/>
          <p:nvPr/>
        </p:nvSpPr>
        <p:spPr>
          <a:xfrm>
            <a:off x="603504" y="4590288"/>
            <a:ext cx="11018520" cy="640080"/>
          </a:xfrm>
          <a:prstGeom prst="rect">
            <a:avLst/>
          </a:prstGeom>
          <a:noFill/>
        </p:spPr>
        <p:txBody>
          <a:bodyPr wrap="square" lIns="0" tIns="0" rIns="0" bIns="0" anchor="t">
            <a:spAutoFit/>
          </a:bodyPr>
          <a:lstStyle/>
          <a:p>
            <a:pPr algn="l">
              <a:spcBef>
                <a:spcPts val="0"/>
              </a:spcBef>
              <a:spcAft>
                <a:spcPts val="200"/>
              </a:spcAft>
            </a:pPr>
            <a:r>
              <a:rPr sz="950" b="1">
                <a:solidFill>
                  <a:srgbClr val="233E67"/>
                </a:solidFill>
                <a:latin typeface="Calibri"/>
              </a:rPr>
              <a:t>END TO END</a:t>
            </a:r>
          </a:p>
          <a:p>
            <a:pPr algn="l">
              <a:spcBef>
                <a:spcPts val="0"/>
              </a:spcBef>
              <a:spcAft>
                <a:spcPts val="0"/>
              </a:spcAft>
            </a:pPr>
            <a:r>
              <a:rPr sz="1150" b="0">
                <a:solidFill>
                  <a:srgbClr val="233E67"/>
                </a:solidFill>
                <a:latin typeface="Calibri"/>
              </a:rPr>
              <a:t>The flow is designed to be intuitive and frictionless, from inspiration to conversion, all within a single mobile-first URL.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F03821-AAFD-45F3-B888-F9ED6A93E16D}"/>
              </a:ext>
            </a:extLst>
          </p:cNvPr>
          <p:cNvSpPr>
            <a:spLocks noGrp="1"/>
          </p:cNvSpPr>
          <p:nvPr/>
        </p:nvSpPr>
        <p:spPr>
          <a:xfrm>
            <a:off x="381000" y="238125"/>
            <a:ext cx="10953750" cy="400050"/>
          </a:xfrm>
          <a:prstGeom prst="rect">
            <a:avLst/>
          </a:prstGeom>
          <a:noFill/>
          <a:ln w="0">
            <a:noFill/>
          </a:ln>
        </p:spPr>
        <p:txBody>
          <a:bodyPr lIns="0" tIns="0" rIns="0" bIns="0"/>
          <a:lstStyle/>
          <a:p>
            <a:pPr>
              <a:defRPr sz="2400" b="1">
                <a:solidFill>
                  <a:srgbClr val="82C2DD"/>
                </a:solidFill>
                <a:latin typeface="Calibri"/>
                <a:ea typeface="Calibri"/>
                <a:cs typeface="Calibri"/>
              </a:defRPr>
            </a:pPr>
            <a:r>
              <a:rPr sz="2400" b="1">
                <a:solidFill>
                  <a:srgbClr val="82C2DD"/>
                </a:solidFill>
                <a:latin typeface="Calibri"/>
                <a:ea typeface="Calibri"/>
                <a:cs typeface="Calibri"/>
              </a:rPr>
              <a:t>Visual Search &amp; Recommendation</a:t>
            </a:r>
          </a:p>
        </p:txBody>
      </p:sp>
      <p:sp>
        <p:nvSpPr>
          <p:cNvPr id="2" name="Rectangle 1">
            <a:extLst>
              <a:ext uri="{FF2B5EF4-FFF2-40B4-BE49-F238E27FC236}">
                <a16:creationId xmlns:a16="http://schemas.microsoft.com/office/drawing/2014/main" id="{8540F20D-1EDC-4479-8AAA-957B5E3A3301}"/>
              </a:ext>
            </a:extLst>
          </p:cNvPr>
          <p:cNvSpPr>
            <a:spLocks noGrp="1"/>
          </p:cNvSpPr>
          <p:nvPr/>
        </p:nvSpPr>
        <p:spPr>
          <a:xfrm>
            <a:off x="381000" y="685800"/>
            <a:ext cx="10953750" cy="381000"/>
          </a:xfrm>
          <a:prstGeom prst="rect">
            <a:avLst/>
          </a:prstGeom>
          <a:noFill/>
          <a:ln w="0">
            <a:noFill/>
          </a:ln>
        </p:spPr>
        <p:txBody>
          <a:bodyPr lIns="0" tIns="0" rIns="0" bIns="0"/>
          <a:lstStyle/>
          <a:p>
            <a:pPr>
              <a:defRPr sz="2175" b="1">
                <a:solidFill>
                  <a:srgbClr val="233E67"/>
                </a:solidFill>
                <a:latin typeface="Calibri"/>
                <a:ea typeface="Calibri"/>
                <a:cs typeface="Calibri"/>
              </a:defRPr>
            </a:pPr>
            <a:r>
              <a:rPr sz="2175" b="1">
                <a:solidFill>
                  <a:srgbClr val="233E67"/>
                </a:solidFill>
                <a:latin typeface="Calibri"/>
                <a:ea typeface="Calibri"/>
                <a:cs typeface="Calibri"/>
              </a:rPr>
              <a:t>Prototype mockup: the mobile experience</a:t>
            </a:r>
          </a:p>
        </p:txBody>
      </p:sp>
      <p:pic>
        <p:nvPicPr>
          <p:cNvPr id="7" name="Picture 6"/>
          <p:cNvPicPr>
            <a:picLocks noChangeAspect="1"/>
          </p:cNvPicPr>
          <p:nvPr/>
        </p:nvPicPr>
        <p:blipFill>
          <a:blip r:embed="rId3"/>
          <a:stretch/>
        </p:blipFill>
        <p:spPr>
          <a:xfrm>
            <a:off x="952500" y="1133475"/>
            <a:ext cx="10287000" cy="5143500"/>
          </a:xfrm>
          <a:prstGeom prst="rect">
            <a:avLst/>
          </a:prstGeom>
        </p:spPr>
      </p:pic>
      <p:sp>
        <p:nvSpPr>
          <p:cNvPr id="4" name="Rectangle 3">
            <a:extLst>
              <a:ext uri="{FF2B5EF4-FFF2-40B4-BE49-F238E27FC236}">
                <a16:creationId xmlns:a16="http://schemas.microsoft.com/office/drawing/2014/main" id="{07C8E341-3EB7-4572-A9E4-D942EA530395}"/>
              </a:ext>
            </a:extLst>
          </p:cNvPr>
          <p:cNvSpPr>
            <a:spLocks noGrp="1"/>
          </p:cNvSpPr>
          <p:nvPr/>
        </p:nvSpPr>
        <p:spPr>
          <a:xfrm>
            <a:off x="381000" y="6496050"/>
            <a:ext cx="11334750" cy="247650"/>
          </a:xfrm>
          <a:prstGeom prst="rect">
            <a:avLst/>
          </a:prstGeom>
          <a:noFill/>
          <a:ln w="0">
            <a:noFill/>
          </a:ln>
        </p:spPr>
        <p:txBody>
          <a:bodyPr lIns="0" tIns="0" rIns="0" bIns="0"/>
          <a:lstStyle/>
          <a:p>
            <a:pPr>
              <a:defRPr sz="1275" b="0">
                <a:solidFill>
                  <a:srgbClr val="4A5E80"/>
                </a:solidFill>
                <a:latin typeface="Calibri"/>
                <a:ea typeface="Calibri"/>
                <a:cs typeface="Calibri"/>
              </a:defRPr>
            </a:pPr>
            <a:r>
              <a:rPr sz="1275" b="0">
                <a:solidFill>
                  <a:srgbClr val="4A5E80"/>
                </a:solidFill>
                <a:latin typeface="Calibri"/>
                <a:ea typeface="Calibri"/>
                <a:cs typeface="Calibri"/>
              </a:rPr>
              <a:t>Visual concept. Product images are illustrative. Checkout takes place in the official store.</a:t>
            </a:r>
          </a:p>
        </p:txBody>
      </p:sp>
    </p:spTree>
    <p:extLst>
      <p:ext uri="{BB962C8B-B14F-4D97-AF65-F5344CB8AC3E}">
        <p14:creationId xmlns:p14="http://schemas.microsoft.com/office/powerpoint/2010/main" val="571920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light.png"/>
          <p:cNvPicPr>
            <a:picLocks noChangeAspect="1"/>
          </p:cNvPicPr>
          <p:nvPr/>
        </p:nvPicPr>
        <p:blipFill>
          <a:blip r:embed="rId2"/>
          <a:stretch>
            <a:fillRect/>
          </a:stretch>
        </p:blipFill>
        <p:spPr>
          <a:xfrm>
            <a:off x="0" y="0"/>
            <a:ext cx="12191969" cy="6858000"/>
          </a:xfrm>
          <a:prstGeom prst="rect">
            <a:avLst/>
          </a:prstGeom>
        </p:spPr>
      </p:pic>
      <p:pic>
        <p:nvPicPr>
          <p:cNvPr id="3" name="Picture 2" descr="logo145.png"/>
          <p:cNvPicPr>
            <a:picLocks noChangeAspect="1"/>
          </p:cNvPicPr>
          <p:nvPr/>
        </p:nvPicPr>
        <p:blipFill>
          <a:blip r:embed="rId3"/>
          <a:stretch>
            <a:fillRect/>
          </a:stretch>
        </p:blipFill>
        <p:spPr>
          <a:xfrm>
            <a:off x="10277856" y="219456"/>
            <a:ext cx="1591056" cy="1490472"/>
          </a:xfrm>
          <a:prstGeom prst="rect">
            <a:avLst/>
          </a:prstGeom>
        </p:spPr>
      </p:pic>
      <p:pic>
        <p:nvPicPr>
          <p:cNvPr id="4" name="Picture 3" descr="corona_mark.png"/>
          <p:cNvPicPr>
            <a:picLocks noChangeAspect="1"/>
          </p:cNvPicPr>
          <p:nvPr/>
        </p:nvPicPr>
        <p:blipFill>
          <a:blip r:embed="rId4"/>
          <a:stretch>
            <a:fillRect/>
          </a:stretch>
        </p:blipFill>
        <p:spPr>
          <a:xfrm>
            <a:off x="10305288" y="6163056"/>
            <a:ext cx="1426464" cy="201168"/>
          </a:xfrm>
          <a:prstGeom prst="rect">
            <a:avLst/>
          </a:prstGeom>
        </p:spPr>
      </p:pic>
      <p:sp>
        <p:nvSpPr>
          <p:cNvPr id="5" name="TextBox 4"/>
          <p:cNvSpPr txBox="1"/>
          <p:nvPr/>
        </p:nvSpPr>
        <p:spPr>
          <a:xfrm>
            <a:off x="1417320" y="2788920"/>
            <a:ext cx="8229600" cy="822960"/>
          </a:xfrm>
          <a:prstGeom prst="rect">
            <a:avLst/>
          </a:prstGeom>
          <a:noFill/>
        </p:spPr>
        <p:txBody>
          <a:bodyPr wrap="square" lIns="0" tIns="0" rIns="0" bIns="0" anchor="t">
            <a:spAutoFit/>
          </a:bodyPr>
          <a:lstStyle/>
          <a:p>
            <a:pPr algn="l">
              <a:spcBef>
                <a:spcPts val="0"/>
              </a:spcBef>
              <a:spcAft>
                <a:spcPts val="0"/>
              </a:spcAft>
            </a:pPr>
            <a:r>
              <a:rPr sz="4400" b="1">
                <a:solidFill>
                  <a:srgbClr val="82C2DD"/>
                </a:solidFill>
                <a:latin typeface="Calibri"/>
              </a:rPr>
              <a:t>Thank you</a:t>
            </a:r>
          </a:p>
        </p:txBody>
      </p:sp>
      <p:sp>
        <p:nvSpPr>
          <p:cNvPr id="6" name="Rectangle 5"/>
          <p:cNvSpPr/>
          <p:nvPr/>
        </p:nvSpPr>
        <p:spPr>
          <a:xfrm>
            <a:off x="1463040" y="3703320"/>
            <a:ext cx="2194560" cy="27432"/>
          </a:xfrm>
          <a:prstGeom prst="rect">
            <a:avLst/>
          </a:prstGeom>
          <a:solidFill>
            <a:srgbClr val="82C2DD"/>
          </a:solidFill>
          <a:ln>
            <a:noFill/>
          </a:ln>
          <a:effectLst/>
        </p:spPr>
        <p:txBody>
          <a:bodyPr rtlCol="0" anchor="ctr"/>
          <a:lstStyle/>
          <a:p>
            <a:pPr algn="ctr"/>
            <a:endParaRPr/>
          </a:p>
        </p:txBody>
      </p:sp>
      <p:sp>
        <p:nvSpPr>
          <p:cNvPr id="7" name="TextBox 6"/>
          <p:cNvSpPr txBox="1"/>
          <p:nvPr/>
        </p:nvSpPr>
        <p:spPr>
          <a:xfrm>
            <a:off x="1463040" y="3913632"/>
            <a:ext cx="7315200" cy="548640"/>
          </a:xfrm>
          <a:prstGeom prst="rect">
            <a:avLst/>
          </a:prstGeom>
          <a:noFill/>
        </p:spPr>
        <p:txBody>
          <a:bodyPr wrap="square" lIns="0" tIns="0" rIns="0" bIns="0" anchor="t">
            <a:spAutoFit/>
          </a:bodyPr>
          <a:lstStyle/>
          <a:p>
            <a:pPr algn="l">
              <a:spcBef>
                <a:spcPts val="0"/>
              </a:spcBef>
              <a:spcAft>
                <a:spcPts val="400"/>
              </a:spcAft>
            </a:pPr>
            <a:r>
              <a:rPr sz="1400" b="1">
                <a:solidFill>
                  <a:srgbClr val="233E67"/>
                </a:solidFill>
                <a:latin typeface="Calibri"/>
              </a:rPr>
              <a:t>R&amp;D | AI – Innovation &amp; Digital Transformation</a:t>
            </a:r>
          </a:p>
          <a:p>
            <a:pPr algn="l">
              <a:spcBef>
                <a:spcPts val="0"/>
              </a:spcBef>
              <a:spcAft>
                <a:spcPts val="0"/>
              </a:spcAft>
            </a:pPr>
            <a:r>
              <a:rPr sz="1100" b="0">
                <a:solidFill>
                  <a:srgbClr val="7A8CA6"/>
                </a:solidFill>
                <a:latin typeface="Calibri"/>
              </a:rPr>
              <a:t>Vajillas Corona  ·  Graduate internship brief  ·  Pilot Phase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865</Words>
  <Application>Microsoft Macintosh PowerPoint</Application>
  <PresentationFormat>Widescreen</PresentationFormat>
  <Paragraphs>91</Paragraphs>
  <Slides>8</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Arial</vt:lpstr>
      <vt:lpstr>Calibri</vt:lpstr>
      <vt:lpstr>Office Theme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Juan Felipe Monsalvo Salazar</cp:lastModifiedBy>
  <cp:revision>2</cp:revision>
  <dcterms:created xsi:type="dcterms:W3CDTF">2013-01-27T09:14:16Z</dcterms:created>
  <dcterms:modified xsi:type="dcterms:W3CDTF">2026-09-08T22:09:37Z</dcterms:modified>
  <cp:category/>
</cp:coreProperties>
</file>